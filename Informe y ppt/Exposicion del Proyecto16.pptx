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Open Sans" panose="020F0502020204030204" pitchFamily="34" charset="0"/>
      <p:regular r:id="rId16"/>
    </p:embeddedFont>
    <p:embeddedFont>
      <p:font typeface="Public Sans" panose="020B0604020202020204" charset="0"/>
      <p:regular r:id="rId17"/>
    </p:embeddedFont>
    <p:embeddedFont>
      <p:font typeface="Public Sans Bold" panose="020B0604020202020204" charset="0"/>
      <p:regular r:id="rId18"/>
    </p:embeddedFont>
    <p:embeddedFont>
      <p:font typeface="Retropix"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5" d="100"/>
          <a:sy n="45" d="100"/>
        </p:scale>
        <p:origin x="81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17" Type="http://schemas.openxmlformats.org/officeDocument/2006/relationships/image" Target="../media/image16.svg"/><Relationship Id="rId2" Type="http://schemas.openxmlformats.org/officeDocument/2006/relationships/image" Target="../media/image1.sv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8.svg"/><Relationship Id="rId7" Type="http://schemas.openxmlformats.org/officeDocument/2006/relationships/image" Target="../media/image5.svg"/><Relationship Id="rId12" Type="http://schemas.openxmlformats.org/officeDocument/2006/relationships/image" Target="../media/image8.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6.svg"/><Relationship Id="rId5" Type="http://schemas.openxmlformats.org/officeDocument/2006/relationships/image" Target="../media/image19.svg"/><Relationship Id="rId10" Type="http://schemas.openxmlformats.org/officeDocument/2006/relationships/image" Target="../media/image7.svg"/><Relationship Id="rId4" Type="http://schemas.openxmlformats.org/officeDocument/2006/relationships/image" Target="../media/image16.svg"/><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8.sv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slide" Target="slide2.xml"/><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22.svg"/><Relationship Id="rId5" Type="http://schemas.openxmlformats.org/officeDocument/2006/relationships/image" Target="../media/image12.svg"/><Relationship Id="rId10" Type="http://schemas.openxmlformats.org/officeDocument/2006/relationships/image" Target="../media/image21.svg"/><Relationship Id="rId4" Type="http://schemas.openxmlformats.org/officeDocument/2006/relationships/image" Target="../media/image11.svg"/><Relationship Id="rId9" Type="http://schemas.openxmlformats.org/officeDocument/2006/relationships/image" Target="../media/image7.svg"/><Relationship Id="rId14" Type="http://schemas.openxmlformats.org/officeDocument/2006/relationships/image" Target="../media/image16.sv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2.svg"/><Relationship Id="rId12" Type="http://schemas.openxmlformats.org/officeDocument/2006/relationships/image" Target="../media/image7.sv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slide" Target="slide2.xml"/><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slide" Target="slide2.xml"/><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slide" Target="slide2.xml"/><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20.svg"/><Relationship Id="rId1" Type="http://schemas.openxmlformats.org/officeDocument/2006/relationships/slideLayout" Target="../slideLayouts/slideLayout7.xml"/><Relationship Id="rId6" Type="http://schemas.openxmlformats.org/officeDocument/2006/relationships/image" Target="../media/image12.svg"/><Relationship Id="rId11" Type="http://schemas.openxmlformats.org/officeDocument/2006/relationships/slide" Target="slide2.xml"/><Relationship Id="rId5" Type="http://schemas.openxmlformats.org/officeDocument/2006/relationships/image" Target="../media/image11.svg"/><Relationship Id="rId10" Type="http://schemas.openxmlformats.org/officeDocument/2006/relationships/image" Target="../media/image26.svg"/><Relationship Id="rId4" Type="http://schemas.openxmlformats.org/officeDocument/2006/relationships/image" Target="../media/image10.svg"/><Relationship Id="rId9"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6.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6.svg"/><Relationship Id="rId7" Type="http://schemas.openxmlformats.org/officeDocument/2006/relationships/image" Target="../media/image29.svg"/><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8.sv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6.svg"/><Relationship Id="rId3" Type="http://schemas.openxmlformats.org/officeDocument/2006/relationships/image" Target="../media/image32.svg"/><Relationship Id="rId7" Type="http://schemas.openxmlformats.org/officeDocument/2006/relationships/image" Target="../media/image10.svg"/><Relationship Id="rId12" Type="http://schemas.openxmlformats.org/officeDocument/2006/relationships/image" Target="../media/image15.svg"/><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image" Target="../media/image34.svg"/><Relationship Id="rId15" Type="http://schemas.openxmlformats.org/officeDocument/2006/relationships/image" Target="../media/image35.svg"/><Relationship Id="rId10" Type="http://schemas.openxmlformats.org/officeDocument/2006/relationships/image" Target="../media/image13.svg"/><Relationship Id="rId4" Type="http://schemas.openxmlformats.org/officeDocument/2006/relationships/image" Target="../media/image33.svg"/><Relationship Id="rId9" Type="http://schemas.openxmlformats.org/officeDocument/2006/relationships/image" Target="../media/image12.svg"/><Relationship Id="rId14" Type="http://schemas.openxmlformats.org/officeDocument/2006/relationships/image" Target="../media/image1.svg"/></Relationships>
</file>

<file path=ppt/slides/_rels/slide1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6.svg"/><Relationship Id="rId3" Type="http://schemas.openxmlformats.org/officeDocument/2006/relationships/image" Target="../media/image32.svg"/><Relationship Id="rId7" Type="http://schemas.openxmlformats.org/officeDocument/2006/relationships/image" Target="../media/image10.svg"/><Relationship Id="rId12" Type="http://schemas.openxmlformats.org/officeDocument/2006/relationships/image" Target="../media/image15.svg"/><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image" Target="../media/image34.svg"/><Relationship Id="rId15" Type="http://schemas.openxmlformats.org/officeDocument/2006/relationships/image" Target="../media/image35.svg"/><Relationship Id="rId10" Type="http://schemas.openxmlformats.org/officeDocument/2006/relationships/image" Target="../media/image13.svg"/><Relationship Id="rId4" Type="http://schemas.openxmlformats.org/officeDocument/2006/relationships/image" Target="../media/image33.svg"/><Relationship Id="rId9" Type="http://schemas.openxmlformats.org/officeDocument/2006/relationships/image" Target="../media/image12.svg"/><Relationship Id="rId14" Type="http://schemas.openxmlformats.org/officeDocument/2006/relationships/image" Target="../media/image1.svg"/></Relationships>
</file>

<file path=ppt/slides/_rels/slide1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6.svg"/><Relationship Id="rId3" Type="http://schemas.openxmlformats.org/officeDocument/2006/relationships/image" Target="../media/image32.svg"/><Relationship Id="rId7" Type="http://schemas.openxmlformats.org/officeDocument/2006/relationships/image" Target="../media/image10.svg"/><Relationship Id="rId12" Type="http://schemas.openxmlformats.org/officeDocument/2006/relationships/image" Target="../media/image15.svg"/><Relationship Id="rId17" Type="http://schemas.openxmlformats.org/officeDocument/2006/relationships/image" Target="../media/image37.png"/><Relationship Id="rId2" Type="http://schemas.openxmlformats.org/officeDocument/2006/relationships/slide" Target="slide2.xml"/><Relationship Id="rId16"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image" Target="../media/image34.svg"/><Relationship Id="rId15" Type="http://schemas.openxmlformats.org/officeDocument/2006/relationships/image" Target="../media/image35.svg"/><Relationship Id="rId10" Type="http://schemas.openxmlformats.org/officeDocument/2006/relationships/image" Target="../media/image13.svg"/><Relationship Id="rId4" Type="http://schemas.openxmlformats.org/officeDocument/2006/relationships/image" Target="../media/image33.svg"/><Relationship Id="rId9" Type="http://schemas.openxmlformats.org/officeDocument/2006/relationships/image" Target="../media/image12.svg"/><Relationship Id="rId14" Type="http://schemas.openxmlformats.org/officeDocument/2006/relationships/image" Target="../media/image1.svg"/></Relationships>
</file>

<file path=ppt/slides/_rels/slide1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6.svg"/><Relationship Id="rId3" Type="http://schemas.openxmlformats.org/officeDocument/2006/relationships/image" Target="../media/image32.svg"/><Relationship Id="rId7" Type="http://schemas.openxmlformats.org/officeDocument/2006/relationships/image" Target="../media/image10.svg"/><Relationship Id="rId12" Type="http://schemas.openxmlformats.org/officeDocument/2006/relationships/image" Target="../media/image15.svg"/><Relationship Id="rId2" Type="http://schemas.openxmlformats.org/officeDocument/2006/relationships/slide" Target="slide2.xml"/><Relationship Id="rId16"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image" Target="../media/image34.svg"/><Relationship Id="rId15" Type="http://schemas.openxmlformats.org/officeDocument/2006/relationships/image" Target="../media/image35.svg"/><Relationship Id="rId10" Type="http://schemas.openxmlformats.org/officeDocument/2006/relationships/image" Target="../media/image13.svg"/><Relationship Id="rId4" Type="http://schemas.openxmlformats.org/officeDocument/2006/relationships/image" Target="../media/image33.svg"/><Relationship Id="rId9" Type="http://schemas.openxmlformats.org/officeDocument/2006/relationships/image" Target="../media/image12.svg"/><Relationship Id="rId14" Type="http://schemas.openxmlformats.org/officeDocument/2006/relationships/image" Target="../media/image1.svg"/></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46.svg"/><Relationship Id="rId18" Type="http://schemas.openxmlformats.org/officeDocument/2006/relationships/image" Target="../media/image51.svg"/><Relationship Id="rId3" Type="http://schemas.openxmlformats.org/officeDocument/2006/relationships/image" Target="../media/image40.svg"/><Relationship Id="rId21" Type="http://schemas.openxmlformats.org/officeDocument/2006/relationships/image" Target="../media/image8.svg"/><Relationship Id="rId7" Type="http://schemas.openxmlformats.org/officeDocument/2006/relationships/image" Target="../media/image44.svg"/><Relationship Id="rId12" Type="http://schemas.openxmlformats.org/officeDocument/2006/relationships/image" Target="../media/image34.svg"/><Relationship Id="rId17" Type="http://schemas.openxmlformats.org/officeDocument/2006/relationships/image" Target="../media/image50.svg"/><Relationship Id="rId2" Type="http://schemas.openxmlformats.org/officeDocument/2006/relationships/image" Target="../media/image39.svg"/><Relationship Id="rId16" Type="http://schemas.openxmlformats.org/officeDocument/2006/relationships/image" Target="../media/image49.svg"/><Relationship Id="rId20" Type="http://schemas.openxmlformats.org/officeDocument/2006/relationships/image" Target="../media/image53.svg"/><Relationship Id="rId1" Type="http://schemas.openxmlformats.org/officeDocument/2006/relationships/slideLayout" Target="../slideLayouts/slideLayout7.xml"/><Relationship Id="rId6" Type="http://schemas.openxmlformats.org/officeDocument/2006/relationships/image" Target="../media/image43.svg"/><Relationship Id="rId11" Type="http://schemas.openxmlformats.org/officeDocument/2006/relationships/image" Target="../media/image45.svg"/><Relationship Id="rId5" Type="http://schemas.openxmlformats.org/officeDocument/2006/relationships/image" Target="../media/image42.svg"/><Relationship Id="rId15" Type="http://schemas.openxmlformats.org/officeDocument/2006/relationships/image" Target="../media/image48.svg"/><Relationship Id="rId10" Type="http://schemas.openxmlformats.org/officeDocument/2006/relationships/image" Target="../media/image32.svg"/><Relationship Id="rId19" Type="http://schemas.openxmlformats.org/officeDocument/2006/relationships/image" Target="../media/image52.svg"/><Relationship Id="rId4" Type="http://schemas.openxmlformats.org/officeDocument/2006/relationships/image" Target="../media/image41.svg"/><Relationship Id="rId9" Type="http://schemas.openxmlformats.org/officeDocument/2006/relationships/image" Target="../media/image7.svg"/><Relationship Id="rId14" Type="http://schemas.openxmlformats.org/officeDocument/2006/relationships/image" Target="../media/image4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descr="a pixelated trash can icon"/>
          <p:cNvSpPr/>
          <p:nvPr/>
        </p:nvSpPr>
        <p:spPr>
          <a:xfrm>
            <a:off x="633368" y="3626446"/>
            <a:ext cx="782400" cy="1057297"/>
          </a:xfrm>
          <a:custGeom>
            <a:avLst/>
            <a:gdLst/>
            <a:ahLst/>
            <a:cxnLst/>
            <a:rect l="l" t="t" r="r" b="b"/>
            <a:pathLst>
              <a:path w="782400" h="1057297">
                <a:moveTo>
                  <a:pt x="0" y="0"/>
                </a:moveTo>
                <a:lnTo>
                  <a:pt x="782400" y="0"/>
                </a:lnTo>
                <a:lnTo>
                  <a:pt x="782400" y="1057296"/>
                </a:lnTo>
                <a:lnTo>
                  <a:pt x="0" y="105729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sp>
        <p:nvSpPr>
          <p:cNvPr id="3" name="Freeform 3" descr="a yellow folder icon"/>
          <p:cNvSpPr/>
          <p:nvPr/>
        </p:nvSpPr>
        <p:spPr>
          <a:xfrm>
            <a:off x="511249" y="2300667"/>
            <a:ext cx="1026639" cy="785846"/>
          </a:xfrm>
          <a:custGeom>
            <a:avLst/>
            <a:gdLst/>
            <a:ahLst/>
            <a:cxnLst/>
            <a:rect l="l" t="t" r="r" b="b"/>
            <a:pathLst>
              <a:path w="1026639" h="785846">
                <a:moveTo>
                  <a:pt x="0" y="0"/>
                </a:moveTo>
                <a:lnTo>
                  <a:pt x="1026639" y="0"/>
                </a:lnTo>
                <a:lnTo>
                  <a:pt x="1026639" y="785845"/>
                </a:lnTo>
                <a:lnTo>
                  <a:pt x="0" y="7858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4" name="Freeform 4" descr="an old computer with the word hi on it"/>
          <p:cNvSpPr/>
          <p:nvPr/>
        </p:nvSpPr>
        <p:spPr>
          <a:xfrm>
            <a:off x="543623" y="538933"/>
            <a:ext cx="961890" cy="1221800"/>
          </a:xfrm>
          <a:custGeom>
            <a:avLst/>
            <a:gdLst/>
            <a:ahLst/>
            <a:cxnLst/>
            <a:rect l="l" t="t" r="r" b="b"/>
            <a:pathLst>
              <a:path w="961890" h="1221800">
                <a:moveTo>
                  <a:pt x="0" y="0"/>
                </a:moveTo>
                <a:lnTo>
                  <a:pt x="961890" y="0"/>
                </a:lnTo>
                <a:lnTo>
                  <a:pt x="961890" y="1221801"/>
                </a:lnTo>
                <a:lnTo>
                  <a:pt x="0" y="12218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5" name="Freeform 5" descr="a pixel image of a disk with a music note on it"/>
          <p:cNvSpPr/>
          <p:nvPr/>
        </p:nvSpPr>
        <p:spPr>
          <a:xfrm>
            <a:off x="559442" y="5223676"/>
            <a:ext cx="930253" cy="980151"/>
          </a:xfrm>
          <a:custGeom>
            <a:avLst/>
            <a:gdLst/>
            <a:ahLst/>
            <a:cxnLst/>
            <a:rect l="l" t="t" r="r" b="b"/>
            <a:pathLst>
              <a:path w="930253" h="980151">
                <a:moveTo>
                  <a:pt x="0" y="0"/>
                </a:moveTo>
                <a:lnTo>
                  <a:pt x="930253" y="0"/>
                </a:lnTo>
                <a:lnTo>
                  <a:pt x="930253" y="980151"/>
                </a:lnTo>
                <a:lnTo>
                  <a:pt x="0" y="9801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sp>
        <p:nvSpPr>
          <p:cNvPr id="6" name="Freeform 6" descr="an image of a floppy disk"/>
          <p:cNvSpPr/>
          <p:nvPr/>
        </p:nvSpPr>
        <p:spPr>
          <a:xfrm>
            <a:off x="16802844" y="538933"/>
            <a:ext cx="779562" cy="779562"/>
          </a:xfrm>
          <a:custGeom>
            <a:avLst/>
            <a:gdLst/>
            <a:ahLst/>
            <a:cxnLst/>
            <a:rect l="l" t="t" r="r" b="b"/>
            <a:pathLst>
              <a:path w="779562" h="779562">
                <a:moveTo>
                  <a:pt x="0" y="0"/>
                </a:moveTo>
                <a:lnTo>
                  <a:pt x="779562" y="0"/>
                </a:lnTo>
                <a:lnTo>
                  <a:pt x="779562" y="779562"/>
                </a:lnTo>
                <a:lnTo>
                  <a:pt x="0" y="7795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7" name="Freeform 7" descr="a yellow triangle with an exclamation mark on it"/>
          <p:cNvSpPr/>
          <p:nvPr/>
        </p:nvSpPr>
        <p:spPr>
          <a:xfrm>
            <a:off x="16788145" y="1764975"/>
            <a:ext cx="779562" cy="779562"/>
          </a:xfrm>
          <a:custGeom>
            <a:avLst/>
            <a:gdLst/>
            <a:ahLst/>
            <a:cxnLst/>
            <a:rect l="l" t="t" r="r" b="b"/>
            <a:pathLst>
              <a:path w="779562" h="779562">
                <a:moveTo>
                  <a:pt x="0" y="0"/>
                </a:moveTo>
                <a:lnTo>
                  <a:pt x="779562" y="0"/>
                </a:lnTo>
                <a:lnTo>
                  <a:pt x="779562" y="779562"/>
                </a:lnTo>
                <a:lnTo>
                  <a:pt x="0" y="77956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sp>
        <p:nvSpPr>
          <p:cNvPr id="8" name="TextBox 8"/>
          <p:cNvSpPr txBox="1"/>
          <p:nvPr/>
        </p:nvSpPr>
        <p:spPr>
          <a:xfrm>
            <a:off x="3629964" y="755760"/>
            <a:ext cx="11828873" cy="6931024"/>
          </a:xfrm>
          <a:prstGeom prst="rect">
            <a:avLst/>
          </a:prstGeom>
        </p:spPr>
        <p:txBody>
          <a:bodyPr lIns="0" tIns="0" rIns="0" bIns="0" rtlCol="0" anchor="t">
            <a:spAutoFit/>
          </a:bodyPr>
          <a:lstStyle/>
          <a:p>
            <a:pPr algn="ctr">
              <a:lnSpc>
                <a:spcPts val="12999"/>
              </a:lnSpc>
            </a:pPr>
            <a:r>
              <a:rPr lang="en-US" sz="12999">
                <a:solidFill>
                  <a:srgbClr val="FFFFFF"/>
                </a:solidFill>
                <a:latin typeface="Retropix"/>
                <a:ea typeface="Retropix"/>
                <a:cs typeface="Retropix"/>
                <a:sym typeface="Retropix"/>
              </a:rPr>
              <a:t>Proyecto Servidor de eBooks (Calibre-Web)</a:t>
            </a:r>
          </a:p>
        </p:txBody>
      </p:sp>
      <p:sp>
        <p:nvSpPr>
          <p:cNvPr id="9" name="Freeform 9" descr="cursor"/>
          <p:cNvSpPr/>
          <p:nvPr/>
        </p:nvSpPr>
        <p:spPr>
          <a:xfrm>
            <a:off x="13004220" y="5206486"/>
            <a:ext cx="484735" cy="825401"/>
          </a:xfrm>
          <a:custGeom>
            <a:avLst/>
            <a:gdLst/>
            <a:ahLst/>
            <a:cxnLst/>
            <a:rect l="l" t="t" r="r" b="b"/>
            <a:pathLst>
              <a:path w="484735" h="825401">
                <a:moveTo>
                  <a:pt x="0" y="0"/>
                </a:moveTo>
                <a:lnTo>
                  <a:pt x="484736" y="0"/>
                </a:lnTo>
                <a:lnTo>
                  <a:pt x="484736" y="825401"/>
                </a:lnTo>
                <a:lnTo>
                  <a:pt x="0" y="82540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grpSp>
        <p:nvGrpSpPr>
          <p:cNvPr id="10" name="Group 10"/>
          <p:cNvGrpSpPr/>
          <p:nvPr/>
        </p:nvGrpSpPr>
        <p:grpSpPr>
          <a:xfrm>
            <a:off x="7349678" y="7857442"/>
            <a:ext cx="5189953" cy="967252"/>
            <a:chOff x="0" y="0"/>
            <a:chExt cx="6919938" cy="1289669"/>
          </a:xfrm>
        </p:grpSpPr>
        <p:grpSp>
          <p:nvGrpSpPr>
            <p:cNvPr id="11" name="Group 11"/>
            <p:cNvGrpSpPr/>
            <p:nvPr/>
          </p:nvGrpSpPr>
          <p:grpSpPr>
            <a:xfrm>
              <a:off x="0" y="0"/>
              <a:ext cx="6919938" cy="1289669"/>
              <a:chOff x="0" y="0"/>
              <a:chExt cx="2180608" cy="406400"/>
            </a:xfrm>
          </p:grpSpPr>
          <p:sp>
            <p:nvSpPr>
              <p:cNvPr id="12" name="Freeform 12"/>
              <p:cNvSpPr/>
              <p:nvPr/>
            </p:nvSpPr>
            <p:spPr>
              <a:xfrm>
                <a:off x="0" y="0"/>
                <a:ext cx="2180608" cy="406400"/>
              </a:xfrm>
              <a:custGeom>
                <a:avLst/>
                <a:gdLst/>
                <a:ahLst/>
                <a:cxnLst/>
                <a:rect l="l" t="t" r="r" b="b"/>
                <a:pathLst>
                  <a:path w="2180608" h="406400">
                    <a:moveTo>
                      <a:pt x="1977408" y="0"/>
                    </a:moveTo>
                    <a:cubicBezTo>
                      <a:pt x="2089632" y="0"/>
                      <a:pt x="2180608" y="90976"/>
                      <a:pt x="2180608" y="203200"/>
                    </a:cubicBezTo>
                    <a:cubicBezTo>
                      <a:pt x="2180608" y="315424"/>
                      <a:pt x="2089632" y="406400"/>
                      <a:pt x="1977408" y="406400"/>
                    </a:cubicBezTo>
                    <a:lnTo>
                      <a:pt x="203200" y="406400"/>
                    </a:lnTo>
                    <a:cubicBezTo>
                      <a:pt x="90976" y="406400"/>
                      <a:pt x="0" y="315424"/>
                      <a:pt x="0" y="203200"/>
                    </a:cubicBezTo>
                    <a:cubicBezTo>
                      <a:pt x="0" y="90976"/>
                      <a:pt x="90976" y="0"/>
                      <a:pt x="203200" y="0"/>
                    </a:cubicBezTo>
                    <a:close/>
                  </a:path>
                </a:pathLst>
              </a:custGeom>
              <a:solidFill>
                <a:srgbClr val="CCCCCC"/>
              </a:solidFill>
              <a:ln w="28575" cap="sq">
                <a:solidFill>
                  <a:srgbClr val="000000"/>
                </a:solidFill>
                <a:prstDash val="solid"/>
                <a:miter/>
              </a:ln>
            </p:spPr>
            <p:txBody>
              <a:bodyPr/>
              <a:lstStyle/>
              <a:p>
                <a:endParaRPr lang="es-PE"/>
              </a:p>
            </p:txBody>
          </p:sp>
          <p:sp>
            <p:nvSpPr>
              <p:cNvPr id="13" name="TextBox 13"/>
              <p:cNvSpPr txBox="1"/>
              <p:nvPr/>
            </p:nvSpPr>
            <p:spPr>
              <a:xfrm>
                <a:off x="0" y="-38100"/>
                <a:ext cx="2180608" cy="444500"/>
              </a:xfrm>
              <a:prstGeom prst="rect">
                <a:avLst/>
              </a:prstGeom>
            </p:spPr>
            <p:txBody>
              <a:bodyPr lIns="50800" tIns="50800" rIns="50800" bIns="50800" rtlCol="0" anchor="ctr"/>
              <a:lstStyle/>
              <a:p>
                <a:pPr algn="ctr">
                  <a:lnSpc>
                    <a:spcPts val="1605"/>
                  </a:lnSpc>
                </a:pPr>
                <a:endParaRPr/>
              </a:p>
            </p:txBody>
          </p:sp>
        </p:grpSp>
        <p:sp>
          <p:nvSpPr>
            <p:cNvPr id="14" name="TextBox 14"/>
            <p:cNvSpPr txBox="1"/>
            <p:nvPr/>
          </p:nvSpPr>
          <p:spPr>
            <a:xfrm>
              <a:off x="1603401" y="392302"/>
              <a:ext cx="4673195" cy="495541"/>
            </a:xfrm>
            <a:prstGeom prst="rect">
              <a:avLst/>
            </a:prstGeom>
          </p:spPr>
          <p:txBody>
            <a:bodyPr lIns="0" tIns="0" rIns="0" bIns="0" rtlCol="0" anchor="t">
              <a:spAutoFit/>
            </a:bodyPr>
            <a:lstStyle/>
            <a:p>
              <a:pPr algn="l">
                <a:lnSpc>
                  <a:spcPts val="2933"/>
                </a:lnSpc>
              </a:pPr>
              <a:r>
                <a:rPr lang="en-US" sz="2444" b="1">
                  <a:solidFill>
                    <a:srgbClr val="000000"/>
                  </a:solidFill>
                  <a:latin typeface="Public Sans Bold"/>
                  <a:ea typeface="Public Sans Bold"/>
                  <a:cs typeface="Public Sans Bold"/>
                  <a:sym typeface="Public Sans Bold"/>
                </a:rPr>
                <a:t>Grupo 6</a:t>
              </a:r>
            </a:p>
          </p:txBody>
        </p:sp>
        <p:sp>
          <p:nvSpPr>
            <p:cNvPr id="15" name="Freeform 15"/>
            <p:cNvSpPr/>
            <p:nvPr/>
          </p:nvSpPr>
          <p:spPr>
            <a:xfrm>
              <a:off x="643341" y="288863"/>
              <a:ext cx="733274" cy="711942"/>
            </a:xfrm>
            <a:custGeom>
              <a:avLst/>
              <a:gdLst/>
              <a:ahLst/>
              <a:cxnLst/>
              <a:rect l="l" t="t" r="r" b="b"/>
              <a:pathLst>
                <a:path w="733274" h="711942">
                  <a:moveTo>
                    <a:pt x="0" y="0"/>
                  </a:moveTo>
                  <a:lnTo>
                    <a:pt x="733274" y="0"/>
                  </a:lnTo>
                  <a:lnTo>
                    <a:pt x="733274" y="711943"/>
                  </a:lnTo>
                  <a:lnTo>
                    <a:pt x="0" y="71194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grpSp>
      <p:grpSp>
        <p:nvGrpSpPr>
          <p:cNvPr id="16" name="Group 16"/>
          <p:cNvGrpSpPr/>
          <p:nvPr/>
        </p:nvGrpSpPr>
        <p:grpSpPr>
          <a:xfrm>
            <a:off x="0" y="9052698"/>
            <a:ext cx="18288000" cy="1234302"/>
            <a:chOff x="0" y="0"/>
            <a:chExt cx="24384000" cy="1645736"/>
          </a:xfrm>
        </p:grpSpPr>
        <p:grpSp>
          <p:nvGrpSpPr>
            <p:cNvPr id="17" name="Group 17"/>
            <p:cNvGrpSpPr/>
            <p:nvPr/>
          </p:nvGrpSpPr>
          <p:grpSpPr>
            <a:xfrm>
              <a:off x="0" y="0"/>
              <a:ext cx="24384000" cy="1645736"/>
              <a:chOff x="0" y="0"/>
              <a:chExt cx="4816593" cy="325084"/>
            </a:xfrm>
          </p:grpSpPr>
          <p:sp>
            <p:nvSpPr>
              <p:cNvPr id="18" name="Freeform 18"/>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txBody>
              <a:bodyPr/>
              <a:lstStyle/>
              <a:p>
                <a:endParaRPr lang="es-PE"/>
              </a:p>
            </p:txBody>
          </p:sp>
          <p:sp>
            <p:nvSpPr>
              <p:cNvPr id="19" name="TextBox 19"/>
              <p:cNvSpPr txBox="1"/>
              <p:nvPr/>
            </p:nvSpPr>
            <p:spPr>
              <a:xfrm>
                <a:off x="0" y="-38100"/>
                <a:ext cx="4816593" cy="363184"/>
              </a:xfrm>
              <a:prstGeom prst="rect">
                <a:avLst/>
              </a:prstGeom>
            </p:spPr>
            <p:txBody>
              <a:bodyPr lIns="254000" tIns="254000" rIns="254000" bIns="254000" rtlCol="0" anchor="ctr"/>
              <a:lstStyle/>
              <a:p>
                <a:pPr algn="l">
                  <a:lnSpc>
                    <a:spcPts val="2100"/>
                  </a:lnSpc>
                </a:pPr>
                <a:endParaRPr/>
              </a:p>
            </p:txBody>
          </p:sp>
        </p:grpSp>
        <p:sp>
          <p:nvSpPr>
            <p:cNvPr id="20" name="Freeform 20"/>
            <p:cNvSpPr/>
            <p:nvPr/>
          </p:nvSpPr>
          <p:spPr>
            <a:xfrm>
              <a:off x="316552" y="286517"/>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sp>
          <p:nvSpPr>
            <p:cNvPr id="21" name="Freeform 21"/>
            <p:cNvSpPr/>
            <p:nvPr/>
          </p:nvSpPr>
          <p:spPr>
            <a:xfrm>
              <a:off x="474997" y="436533"/>
              <a:ext cx="755811" cy="772669"/>
            </a:xfrm>
            <a:custGeom>
              <a:avLst/>
              <a:gdLst/>
              <a:ahLst/>
              <a:cxnLst/>
              <a:rect l="l" t="t" r="r" b="b"/>
              <a:pathLst>
                <a:path w="755811" h="772669">
                  <a:moveTo>
                    <a:pt x="0" y="0"/>
                  </a:moveTo>
                  <a:lnTo>
                    <a:pt x="755812" y="0"/>
                  </a:lnTo>
                  <a:lnTo>
                    <a:pt x="755812" y="772670"/>
                  </a:lnTo>
                  <a:lnTo>
                    <a:pt x="0" y="772670"/>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s-PE"/>
            </a:p>
          </p:txBody>
        </p:sp>
        <p:sp>
          <p:nvSpPr>
            <p:cNvPr id="22" name="Freeform 22"/>
            <p:cNvSpPr/>
            <p:nvPr/>
          </p:nvSpPr>
          <p:spPr>
            <a:xfrm>
              <a:off x="1897443" y="318086"/>
              <a:ext cx="1076085" cy="1009564"/>
            </a:xfrm>
            <a:custGeom>
              <a:avLst/>
              <a:gdLst/>
              <a:ahLst/>
              <a:cxnLst/>
              <a:rect l="l" t="t" r="r" b="b"/>
              <a:pathLst>
                <a:path w="1076085" h="1009564">
                  <a:moveTo>
                    <a:pt x="0" y="0"/>
                  </a:moveTo>
                  <a:lnTo>
                    <a:pt x="1076085" y="0"/>
                  </a:lnTo>
                  <a:lnTo>
                    <a:pt x="1076085" y="1009564"/>
                  </a:lnTo>
                  <a:lnTo>
                    <a:pt x="0" y="1009564"/>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s-PE"/>
            </a:p>
          </p:txBody>
        </p:sp>
        <p:sp>
          <p:nvSpPr>
            <p:cNvPr id="23" name="Freeform 23"/>
            <p:cNvSpPr/>
            <p:nvPr/>
          </p:nvSpPr>
          <p:spPr>
            <a:xfrm>
              <a:off x="3194335" y="366127"/>
              <a:ext cx="883585" cy="913481"/>
            </a:xfrm>
            <a:custGeom>
              <a:avLst/>
              <a:gdLst/>
              <a:ahLst/>
              <a:cxnLst/>
              <a:rect l="l" t="t" r="r" b="b"/>
              <a:pathLst>
                <a:path w="883585" h="913481">
                  <a:moveTo>
                    <a:pt x="0" y="0"/>
                  </a:moveTo>
                  <a:lnTo>
                    <a:pt x="883585" y="0"/>
                  </a:lnTo>
                  <a:lnTo>
                    <a:pt x="883585" y="913481"/>
                  </a:lnTo>
                  <a:lnTo>
                    <a:pt x="0" y="913481"/>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PE"/>
            </a:p>
          </p:txBody>
        </p:sp>
        <p:sp>
          <p:nvSpPr>
            <p:cNvPr id="24" name="Freeform 24"/>
            <p:cNvSpPr/>
            <p:nvPr/>
          </p:nvSpPr>
          <p:spPr>
            <a:xfrm>
              <a:off x="5416372" y="377368"/>
              <a:ext cx="890999" cy="890999"/>
            </a:xfrm>
            <a:custGeom>
              <a:avLst/>
              <a:gdLst/>
              <a:ahLst/>
              <a:cxnLst/>
              <a:rect l="l" t="t" r="r" b="b"/>
              <a:pathLst>
                <a:path w="890999" h="890999">
                  <a:moveTo>
                    <a:pt x="0" y="0"/>
                  </a:moveTo>
                  <a:lnTo>
                    <a:pt x="890999" y="0"/>
                  </a:lnTo>
                  <a:lnTo>
                    <a:pt x="890999" y="890999"/>
                  </a:lnTo>
                  <a:lnTo>
                    <a:pt x="0" y="890999"/>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s-PE"/>
            </a:p>
          </p:txBody>
        </p:sp>
        <p:sp>
          <p:nvSpPr>
            <p:cNvPr id="25" name="Freeform 25"/>
            <p:cNvSpPr/>
            <p:nvPr/>
          </p:nvSpPr>
          <p:spPr>
            <a:xfrm>
              <a:off x="4298727" y="342107"/>
              <a:ext cx="896838" cy="961522"/>
            </a:xfrm>
            <a:custGeom>
              <a:avLst/>
              <a:gdLst/>
              <a:ahLst/>
              <a:cxnLst/>
              <a:rect l="l" t="t" r="r" b="b"/>
              <a:pathLst>
                <a:path w="896838" h="961522">
                  <a:moveTo>
                    <a:pt x="0" y="0"/>
                  </a:moveTo>
                  <a:lnTo>
                    <a:pt x="896838" y="0"/>
                  </a:lnTo>
                  <a:lnTo>
                    <a:pt x="896838" y="961522"/>
                  </a:lnTo>
                  <a:lnTo>
                    <a:pt x="0" y="961522"/>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s-PE"/>
            </a:p>
          </p:txBody>
        </p:sp>
        <p:sp>
          <p:nvSpPr>
            <p:cNvPr id="26" name="Freeform 26"/>
            <p:cNvSpPr/>
            <p:nvPr/>
          </p:nvSpPr>
          <p:spPr>
            <a:xfrm>
              <a:off x="6502778" y="318086"/>
              <a:ext cx="1207087" cy="1009564"/>
            </a:xfrm>
            <a:custGeom>
              <a:avLst/>
              <a:gdLst/>
              <a:ahLst/>
              <a:cxnLst/>
              <a:rect l="l" t="t" r="r" b="b"/>
              <a:pathLst>
                <a:path w="1207087" h="1009564">
                  <a:moveTo>
                    <a:pt x="0" y="0"/>
                  </a:moveTo>
                  <a:lnTo>
                    <a:pt x="1207088" y="0"/>
                  </a:lnTo>
                  <a:lnTo>
                    <a:pt x="1207088" y="1009564"/>
                  </a:lnTo>
                  <a:lnTo>
                    <a:pt x="0" y="1009564"/>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s-PE"/>
            </a:p>
          </p:txBody>
        </p:sp>
        <p:sp>
          <p:nvSpPr>
            <p:cNvPr id="27" name="TextBox 27"/>
            <p:cNvSpPr txBox="1"/>
            <p:nvPr/>
          </p:nvSpPr>
          <p:spPr>
            <a:xfrm>
              <a:off x="22163171" y="429379"/>
              <a:ext cx="1562297" cy="714375"/>
            </a:xfrm>
            <a:prstGeom prst="rect">
              <a:avLst/>
            </a:prstGeom>
          </p:spPr>
          <p:txBody>
            <a:bodyPr lIns="0" tIns="0" rIns="0" bIns="0" rtlCol="0" anchor="t">
              <a:spAutoFit/>
            </a:bodyPr>
            <a:lstStyle/>
            <a:p>
              <a:pPr algn="r">
                <a:lnSpc>
                  <a:spcPts val="3840"/>
                </a:lnSpc>
              </a:pPr>
              <a:r>
                <a:rPr lang="en-US" sz="3200">
                  <a:solidFill>
                    <a:srgbClr val="000000"/>
                  </a:solidFill>
                  <a:latin typeface="Retropix"/>
                  <a:ea typeface="Retropix"/>
                  <a:cs typeface="Retropix"/>
                  <a:sym typeface="Retropix"/>
                </a:rPr>
                <a:t>11:11PM</a:t>
              </a:r>
            </a:p>
          </p:txBody>
        </p:sp>
      </p:grpSp>
      <p:sp>
        <p:nvSpPr>
          <p:cNvPr id="28" name="Freeform 28" descr="a pixel x mark"/>
          <p:cNvSpPr/>
          <p:nvPr/>
        </p:nvSpPr>
        <p:spPr>
          <a:xfrm>
            <a:off x="16773447" y="2991016"/>
            <a:ext cx="808959" cy="782484"/>
          </a:xfrm>
          <a:custGeom>
            <a:avLst/>
            <a:gdLst/>
            <a:ahLst/>
            <a:cxnLst/>
            <a:rect l="l" t="t" r="r" b="b"/>
            <a:pathLst>
              <a:path w="808959" h="782484">
                <a:moveTo>
                  <a:pt x="0" y="0"/>
                </a:moveTo>
                <a:lnTo>
                  <a:pt x="808959" y="0"/>
                </a:lnTo>
                <a:lnTo>
                  <a:pt x="808959" y="782484"/>
                </a:lnTo>
                <a:lnTo>
                  <a:pt x="0" y="782484"/>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s-P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
        <p:cNvGrpSpPr/>
        <p:nvPr/>
      </p:nvGrpSpPr>
      <p:grpSpPr>
        <a:xfrm>
          <a:off x="0" y="0"/>
          <a:ext cx="0" cy="0"/>
          <a:chOff x="0" y="0"/>
          <a:chExt cx="0" cy="0"/>
        </a:xfrm>
      </p:grpSpPr>
      <p:grpSp>
        <p:nvGrpSpPr>
          <p:cNvPr id="2" name="Group 2"/>
          <p:cNvGrpSpPr/>
          <p:nvPr/>
        </p:nvGrpSpPr>
        <p:grpSpPr>
          <a:xfrm>
            <a:off x="556955" y="1252778"/>
            <a:ext cx="4399880" cy="2020252"/>
            <a:chOff x="0" y="0"/>
            <a:chExt cx="3319333" cy="1524108"/>
          </a:xfrm>
        </p:grpSpPr>
        <p:sp>
          <p:nvSpPr>
            <p:cNvPr id="3" name="Freeform 3">
              <a:extLst>
                <a:ext uri="{C183D7F6-B498-43B3-948B-1728B52AA6E4}">
                  <adec:decorative xmlns:adec="http://schemas.microsoft.com/office/drawing/2017/decorative" val="1"/>
                </a:ext>
              </a:extLst>
            </p:cNvPr>
            <p:cNvSpPr/>
            <p:nvPr/>
          </p:nvSpPr>
          <p:spPr>
            <a:xfrm>
              <a:off x="0" y="0"/>
              <a:ext cx="3319333" cy="1524108"/>
            </a:xfrm>
            <a:custGeom>
              <a:avLst/>
              <a:gdLst/>
              <a:ahLst/>
              <a:cxnLst/>
              <a:rect l="l" t="t" r="r" b="b"/>
              <a:pathLst>
                <a:path w="3319333" h="1524108">
                  <a:moveTo>
                    <a:pt x="52787" y="0"/>
                  </a:moveTo>
                  <a:lnTo>
                    <a:pt x="3266546" y="0"/>
                  </a:lnTo>
                  <a:cubicBezTo>
                    <a:pt x="3295699" y="0"/>
                    <a:pt x="3319333" y="23634"/>
                    <a:pt x="3319333" y="52787"/>
                  </a:cubicBezTo>
                  <a:lnTo>
                    <a:pt x="3319333" y="1471320"/>
                  </a:lnTo>
                  <a:cubicBezTo>
                    <a:pt x="3319333" y="1500474"/>
                    <a:pt x="3295699" y="1524108"/>
                    <a:pt x="3266546" y="1524108"/>
                  </a:cubicBezTo>
                  <a:lnTo>
                    <a:pt x="52787" y="1524108"/>
                  </a:lnTo>
                  <a:cubicBezTo>
                    <a:pt x="23634" y="1524108"/>
                    <a:pt x="0" y="1500474"/>
                    <a:pt x="0" y="1471320"/>
                  </a:cubicBezTo>
                  <a:lnTo>
                    <a:pt x="0" y="52787"/>
                  </a:lnTo>
                  <a:cubicBezTo>
                    <a:pt x="0" y="23634"/>
                    <a:pt x="23634" y="0"/>
                    <a:pt x="52787" y="0"/>
                  </a:cubicBezTo>
                  <a:close/>
                </a:path>
              </a:pathLst>
            </a:custGeom>
            <a:solidFill>
              <a:srgbClr val="FEFF99"/>
            </a:solidFill>
            <a:ln cap="rnd">
              <a:noFill/>
              <a:prstDash val="sysDot"/>
              <a:round/>
            </a:ln>
          </p:spPr>
          <p:txBody>
            <a:bodyPr/>
            <a:lstStyle/>
            <a:p>
              <a:endParaRPr lang="es-PE"/>
            </a:p>
          </p:txBody>
        </p:sp>
        <p:sp>
          <p:nvSpPr>
            <p:cNvPr id="4" name="TextBox 4"/>
            <p:cNvSpPr txBox="1"/>
            <p:nvPr/>
          </p:nvSpPr>
          <p:spPr>
            <a:xfrm>
              <a:off x="0" y="-38100"/>
              <a:ext cx="3319333" cy="1562208"/>
            </a:xfrm>
            <a:prstGeom prst="rect">
              <a:avLst/>
            </a:prstGeom>
          </p:spPr>
          <p:txBody>
            <a:bodyPr lIns="254000" tIns="254000" rIns="254000" bIns="254000" rtlCol="0" anchor="ctr"/>
            <a:lstStyle/>
            <a:p>
              <a:pPr algn="just">
                <a:lnSpc>
                  <a:spcPts val="2100"/>
                </a:lnSpc>
              </a:pPr>
              <a:r>
                <a:rPr lang="en-US" sz="1500" b="1">
                  <a:solidFill>
                    <a:srgbClr val="000000"/>
                  </a:solidFill>
                  <a:latin typeface="Public Sans Bold"/>
                  <a:ea typeface="Public Sans Bold"/>
                  <a:cs typeface="Public Sans Bold"/>
                  <a:sym typeface="Public Sans Bold"/>
                </a:rPr>
                <a:t>Tip:</a:t>
              </a:r>
              <a:r>
                <a:rPr lang="en-US" sz="1500">
                  <a:solidFill>
                    <a:srgbClr val="000000"/>
                  </a:solidFill>
                  <a:latin typeface="Public Sans"/>
                  <a:ea typeface="Public Sans"/>
                  <a:cs typeface="Public Sans"/>
                  <a:sym typeface="Public Sans"/>
                </a:rPr>
                <a:t> Use links to go to a different page inside your presentation. </a:t>
              </a:r>
            </a:p>
            <a:p>
              <a:pPr algn="just">
                <a:lnSpc>
                  <a:spcPts val="2100"/>
                </a:lnSpc>
              </a:pPr>
              <a:endParaRPr lang="en-US" sz="1500">
                <a:solidFill>
                  <a:srgbClr val="000000"/>
                </a:solidFill>
                <a:latin typeface="Public Sans"/>
                <a:ea typeface="Public Sans"/>
                <a:cs typeface="Public Sans"/>
                <a:sym typeface="Public Sans"/>
              </a:endParaRPr>
            </a:p>
            <a:p>
              <a:pPr algn="just">
                <a:lnSpc>
                  <a:spcPts val="2100"/>
                </a:lnSpc>
              </a:pPr>
              <a:r>
                <a:rPr lang="en-US" sz="1500" b="1">
                  <a:solidFill>
                    <a:srgbClr val="000000"/>
                  </a:solidFill>
                  <a:latin typeface="Public Sans Bold"/>
                  <a:ea typeface="Public Sans Bold"/>
                  <a:cs typeface="Public Sans Bold"/>
                  <a:sym typeface="Public Sans Bold"/>
                </a:rPr>
                <a:t>How: </a:t>
              </a:r>
              <a:r>
                <a:rPr lang="en-US" sz="1500">
                  <a:solidFill>
                    <a:srgbClr val="000000"/>
                  </a:solidFill>
                  <a:latin typeface="Public Sans"/>
                  <a:ea typeface="Public Sans"/>
                  <a:cs typeface="Public Sans"/>
                  <a:sym typeface="Public Sans"/>
                </a:rPr>
                <a:t>Highlight text, click on the link symbol on the toolbar, and select the page in your presentation  you want to connect.</a:t>
              </a:r>
            </a:p>
          </p:txBody>
        </p:sp>
      </p:grpSp>
      <p:grpSp>
        <p:nvGrpSpPr>
          <p:cNvPr id="5" name="Group 5"/>
          <p:cNvGrpSpPr/>
          <p:nvPr/>
        </p:nvGrpSpPr>
        <p:grpSpPr>
          <a:xfrm>
            <a:off x="-836598" y="0"/>
            <a:ext cx="19961197" cy="795781"/>
            <a:chOff x="0" y="0"/>
            <a:chExt cx="26614929" cy="1061041"/>
          </a:xfrm>
        </p:grpSpPr>
        <p:grpSp>
          <p:nvGrpSpPr>
            <p:cNvPr id="6" name="Group 6"/>
            <p:cNvGrpSpPr/>
            <p:nvPr/>
          </p:nvGrpSpPr>
          <p:grpSpPr>
            <a:xfrm>
              <a:off x="0" y="0"/>
              <a:ext cx="26614929" cy="1061041"/>
              <a:chOff x="0" y="0"/>
              <a:chExt cx="5257270" cy="209588"/>
            </a:xfrm>
          </p:grpSpPr>
          <p:sp>
            <p:nvSpPr>
              <p:cNvPr id="7" name="Freeform 7"/>
              <p:cNvSpPr/>
              <p:nvPr/>
            </p:nvSpPr>
            <p:spPr>
              <a:xfrm>
                <a:off x="0" y="0"/>
                <a:ext cx="5257270" cy="209588"/>
              </a:xfrm>
              <a:custGeom>
                <a:avLst/>
                <a:gdLst/>
                <a:ahLst/>
                <a:cxnLst/>
                <a:rect l="l" t="t" r="r" b="b"/>
                <a:pathLst>
                  <a:path w="5257270" h="209588">
                    <a:moveTo>
                      <a:pt x="0" y="0"/>
                    </a:moveTo>
                    <a:lnTo>
                      <a:pt x="5257270" y="0"/>
                    </a:lnTo>
                    <a:lnTo>
                      <a:pt x="5257270" y="209588"/>
                    </a:lnTo>
                    <a:lnTo>
                      <a:pt x="0" y="209588"/>
                    </a:lnTo>
                    <a:close/>
                  </a:path>
                </a:pathLst>
              </a:custGeom>
              <a:solidFill>
                <a:srgbClr val="067A7B"/>
              </a:solidFill>
              <a:ln w="95250" cap="sq">
                <a:solidFill>
                  <a:srgbClr val="067A7B"/>
                </a:solidFill>
                <a:prstDash val="solid"/>
                <a:miter/>
              </a:ln>
            </p:spPr>
            <p:txBody>
              <a:bodyPr/>
              <a:lstStyle/>
              <a:p>
                <a:endParaRPr lang="es-PE"/>
              </a:p>
            </p:txBody>
          </p:sp>
          <p:sp>
            <p:nvSpPr>
              <p:cNvPr id="8" name="TextBox 8"/>
              <p:cNvSpPr txBox="1"/>
              <p:nvPr/>
            </p:nvSpPr>
            <p:spPr>
              <a:xfrm>
                <a:off x="0" y="-57150"/>
                <a:ext cx="5257270" cy="266738"/>
              </a:xfrm>
              <a:prstGeom prst="rect">
                <a:avLst/>
              </a:prstGeom>
            </p:spPr>
            <p:txBody>
              <a:bodyPr lIns="254000" tIns="254000" rIns="254000" bIns="254000" rtlCol="0" anchor="ctr"/>
              <a:lstStyle/>
              <a:p>
                <a:pPr algn="l">
                  <a:lnSpc>
                    <a:spcPts val="3499"/>
                  </a:lnSpc>
                </a:pPr>
                <a:endParaRPr/>
              </a:p>
            </p:txBody>
          </p:sp>
        </p:grpSp>
        <p:sp>
          <p:nvSpPr>
            <p:cNvPr id="9" name="TextBox 9"/>
            <p:cNvSpPr txBox="1"/>
            <p:nvPr/>
          </p:nvSpPr>
          <p:spPr>
            <a:xfrm>
              <a:off x="419729" y="269112"/>
              <a:ext cx="25775471" cy="513292"/>
            </a:xfrm>
            <a:prstGeom prst="rect">
              <a:avLst/>
            </a:prstGeom>
          </p:spPr>
          <p:txBody>
            <a:bodyPr lIns="0" tIns="0" rIns="0" bIns="0" rtlCol="0" anchor="t">
              <a:spAutoFit/>
            </a:bodyPr>
            <a:lstStyle/>
            <a:p>
              <a:pPr algn="ctr">
                <a:lnSpc>
                  <a:spcPts val="2499"/>
                </a:lnSpc>
              </a:pPr>
              <a:r>
                <a:rPr lang="en-US" sz="2499">
                  <a:solidFill>
                    <a:srgbClr val="FFFFFF"/>
                  </a:solidFill>
                  <a:latin typeface="Retropix"/>
                  <a:ea typeface="Retropix"/>
                  <a:cs typeface="Retropix"/>
                  <a:sym typeface="Retropix"/>
                </a:rPr>
                <a:t>Agenda • Agenda • Agenda • Agenda • Agenda • Agenda • Agenda • Agenda • Agenda • Agenda • Agenda • Agenda • Agenda • Agenda</a:t>
              </a:r>
            </a:p>
          </p:txBody>
        </p:sp>
      </p:grpSp>
      <p:sp>
        <p:nvSpPr>
          <p:cNvPr id="10" name="Freeform 10" descr="old tech window ui"/>
          <p:cNvSpPr/>
          <p:nvPr/>
        </p:nvSpPr>
        <p:spPr>
          <a:xfrm>
            <a:off x="277492" y="3900750"/>
            <a:ext cx="9967452" cy="4848437"/>
          </a:xfrm>
          <a:custGeom>
            <a:avLst/>
            <a:gdLst/>
            <a:ahLst/>
            <a:cxnLst/>
            <a:rect l="l" t="t" r="r" b="b"/>
            <a:pathLst>
              <a:path w="9696873" h="4848437">
                <a:moveTo>
                  <a:pt x="0" y="0"/>
                </a:moveTo>
                <a:lnTo>
                  <a:pt x="9696874" y="0"/>
                </a:lnTo>
                <a:lnTo>
                  <a:pt x="9696874" y="4848437"/>
                </a:lnTo>
                <a:lnTo>
                  <a:pt x="0" y="484843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grpSp>
        <p:nvGrpSpPr>
          <p:cNvPr id="11" name="Group 11"/>
          <p:cNvGrpSpPr/>
          <p:nvPr/>
        </p:nvGrpSpPr>
        <p:grpSpPr>
          <a:xfrm>
            <a:off x="10524845" y="1962376"/>
            <a:ext cx="7295924" cy="7295924"/>
            <a:chOff x="0" y="0"/>
            <a:chExt cx="9727899" cy="9727899"/>
          </a:xfrm>
        </p:grpSpPr>
        <p:sp>
          <p:nvSpPr>
            <p:cNvPr id="12" name="Freeform 12"/>
            <p:cNvSpPr/>
            <p:nvPr/>
          </p:nvSpPr>
          <p:spPr>
            <a:xfrm>
              <a:off x="0" y="0"/>
              <a:ext cx="9727899" cy="9727899"/>
            </a:xfrm>
            <a:custGeom>
              <a:avLst/>
              <a:gdLst/>
              <a:ahLst/>
              <a:cxnLst/>
              <a:rect l="l" t="t" r="r" b="b"/>
              <a:pathLst>
                <a:path w="9727899" h="9727899">
                  <a:moveTo>
                    <a:pt x="0" y="0"/>
                  </a:moveTo>
                  <a:lnTo>
                    <a:pt x="9727899" y="0"/>
                  </a:lnTo>
                  <a:lnTo>
                    <a:pt x="9727899" y="9727899"/>
                  </a:lnTo>
                  <a:lnTo>
                    <a:pt x="0" y="97278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13" name="Freeform 13"/>
            <p:cNvSpPr/>
            <p:nvPr/>
          </p:nvSpPr>
          <p:spPr>
            <a:xfrm>
              <a:off x="8868443" y="305414"/>
              <a:ext cx="472752" cy="457280"/>
            </a:xfrm>
            <a:custGeom>
              <a:avLst/>
              <a:gdLst/>
              <a:ahLst/>
              <a:cxnLst/>
              <a:rect l="l" t="t" r="r" b="b"/>
              <a:pathLst>
                <a:path w="472752" h="457280">
                  <a:moveTo>
                    <a:pt x="0" y="0"/>
                  </a:moveTo>
                  <a:lnTo>
                    <a:pt x="472751" y="0"/>
                  </a:lnTo>
                  <a:lnTo>
                    <a:pt x="472751" y="457280"/>
                  </a:lnTo>
                  <a:lnTo>
                    <a:pt x="0" y="4572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grpSp>
      <p:sp>
        <p:nvSpPr>
          <p:cNvPr id="14" name="Freeform 14" descr="old tech window ui"/>
          <p:cNvSpPr/>
          <p:nvPr/>
        </p:nvSpPr>
        <p:spPr>
          <a:xfrm>
            <a:off x="556955" y="816611"/>
            <a:ext cx="5939678" cy="2969839"/>
          </a:xfrm>
          <a:custGeom>
            <a:avLst/>
            <a:gdLst/>
            <a:ahLst/>
            <a:cxnLst/>
            <a:rect l="l" t="t" r="r" b="b"/>
            <a:pathLst>
              <a:path w="5939678" h="2969839">
                <a:moveTo>
                  <a:pt x="0" y="0"/>
                </a:moveTo>
                <a:lnTo>
                  <a:pt x="5939678" y="0"/>
                </a:lnTo>
                <a:lnTo>
                  <a:pt x="5939678" y="2969839"/>
                </a:lnTo>
                <a:lnTo>
                  <a:pt x="0" y="29698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sp>
        <p:nvSpPr>
          <p:cNvPr id="15" name="Freeform 15" descr="a start button"/>
          <p:cNvSpPr/>
          <p:nvPr/>
        </p:nvSpPr>
        <p:spPr>
          <a:xfrm>
            <a:off x="14281475" y="3380244"/>
            <a:ext cx="2778342" cy="767833"/>
          </a:xfrm>
          <a:custGeom>
            <a:avLst/>
            <a:gdLst/>
            <a:ahLst/>
            <a:cxnLst/>
            <a:rect l="l" t="t" r="r" b="b"/>
            <a:pathLst>
              <a:path w="2778342" h="767833">
                <a:moveTo>
                  <a:pt x="0" y="0"/>
                </a:moveTo>
                <a:lnTo>
                  <a:pt x="2778342" y="0"/>
                </a:lnTo>
                <a:lnTo>
                  <a:pt x="2778342" y="767833"/>
                </a:lnTo>
                <a:lnTo>
                  <a:pt x="0" y="7678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pSp>
        <p:nvGrpSpPr>
          <p:cNvPr id="16" name="Group 16"/>
          <p:cNvGrpSpPr/>
          <p:nvPr/>
        </p:nvGrpSpPr>
        <p:grpSpPr>
          <a:xfrm>
            <a:off x="14725545" y="6801550"/>
            <a:ext cx="1890203" cy="1732424"/>
            <a:chOff x="0" y="0"/>
            <a:chExt cx="2520270" cy="2309899"/>
          </a:xfrm>
        </p:grpSpPr>
        <p:sp>
          <p:nvSpPr>
            <p:cNvPr id="17" name="Freeform 17"/>
            <p:cNvSpPr/>
            <p:nvPr/>
          </p:nvSpPr>
          <p:spPr>
            <a:xfrm>
              <a:off x="553833" y="0"/>
              <a:ext cx="1412604" cy="1514488"/>
            </a:xfrm>
            <a:custGeom>
              <a:avLst/>
              <a:gdLst/>
              <a:ahLst/>
              <a:cxnLst/>
              <a:rect l="l" t="t" r="r" b="b"/>
              <a:pathLst>
                <a:path w="1412604" h="1514488">
                  <a:moveTo>
                    <a:pt x="0" y="0"/>
                  </a:moveTo>
                  <a:lnTo>
                    <a:pt x="1412604" y="0"/>
                  </a:lnTo>
                  <a:lnTo>
                    <a:pt x="1412604" y="1514488"/>
                  </a:lnTo>
                  <a:lnTo>
                    <a:pt x="0" y="151448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8" name="TextBox 18"/>
            <p:cNvSpPr txBox="1"/>
            <p:nvPr/>
          </p:nvSpPr>
          <p:spPr>
            <a:xfrm>
              <a:off x="0" y="1624099"/>
              <a:ext cx="2520270" cy="685800"/>
            </a:xfrm>
            <a:prstGeom prst="rect">
              <a:avLst/>
            </a:prstGeom>
          </p:spPr>
          <p:txBody>
            <a:bodyPr lIns="0" tIns="0" rIns="0" bIns="0" rtlCol="0" anchor="t">
              <a:spAutoFit/>
            </a:bodyPr>
            <a:lstStyle/>
            <a:p>
              <a:pPr algn="ctr">
                <a:lnSpc>
                  <a:spcPts val="4200"/>
                </a:lnSpc>
              </a:pPr>
              <a:r>
                <a:rPr lang="en-US" sz="3000">
                  <a:solidFill>
                    <a:srgbClr val="000000"/>
                  </a:solidFill>
                  <a:latin typeface="Public Sans"/>
                  <a:ea typeface="Public Sans"/>
                  <a:cs typeface="Public Sans"/>
                  <a:sym typeface="Public Sans"/>
                </a:rPr>
                <a:t>Podman</a:t>
              </a:r>
            </a:p>
          </p:txBody>
        </p:sp>
      </p:grpSp>
      <p:grpSp>
        <p:nvGrpSpPr>
          <p:cNvPr id="19" name="Group 19"/>
          <p:cNvGrpSpPr/>
          <p:nvPr/>
        </p:nvGrpSpPr>
        <p:grpSpPr>
          <a:xfrm>
            <a:off x="11282989" y="3900750"/>
            <a:ext cx="1890203" cy="1649200"/>
            <a:chOff x="0" y="0"/>
            <a:chExt cx="2520270" cy="2198934"/>
          </a:xfrm>
        </p:grpSpPr>
        <p:sp>
          <p:nvSpPr>
            <p:cNvPr id="20" name="TextBox 20"/>
            <p:cNvSpPr txBox="1"/>
            <p:nvPr/>
          </p:nvSpPr>
          <p:spPr>
            <a:xfrm>
              <a:off x="0" y="1513134"/>
              <a:ext cx="2520270" cy="685800"/>
            </a:xfrm>
            <a:prstGeom prst="rect">
              <a:avLst/>
            </a:prstGeom>
          </p:spPr>
          <p:txBody>
            <a:bodyPr lIns="0" tIns="0" rIns="0" bIns="0" rtlCol="0" anchor="t">
              <a:spAutoFit/>
            </a:bodyPr>
            <a:lstStyle/>
            <a:p>
              <a:pPr algn="ctr">
                <a:lnSpc>
                  <a:spcPts val="4200"/>
                </a:lnSpc>
              </a:pPr>
              <a:r>
                <a:rPr lang="en-US" sz="3000">
                  <a:solidFill>
                    <a:srgbClr val="000000"/>
                  </a:solidFill>
                  <a:latin typeface="Public Sans"/>
                  <a:ea typeface="Public Sans"/>
                  <a:cs typeface="Public Sans"/>
                  <a:sym typeface="Public Sans"/>
                </a:rPr>
                <a:t>Cuaderno</a:t>
              </a:r>
            </a:p>
          </p:txBody>
        </p:sp>
        <p:sp>
          <p:nvSpPr>
            <p:cNvPr id="21" name="Freeform 21"/>
            <p:cNvSpPr/>
            <p:nvPr/>
          </p:nvSpPr>
          <p:spPr>
            <a:xfrm>
              <a:off x="624218" y="0"/>
              <a:ext cx="1271834" cy="1271834"/>
            </a:xfrm>
            <a:custGeom>
              <a:avLst/>
              <a:gdLst/>
              <a:ahLst/>
              <a:cxnLst/>
              <a:rect l="l" t="t" r="r" b="b"/>
              <a:pathLst>
                <a:path w="1271834" h="1271834">
                  <a:moveTo>
                    <a:pt x="0" y="0"/>
                  </a:moveTo>
                  <a:lnTo>
                    <a:pt x="1271834" y="0"/>
                  </a:lnTo>
                  <a:lnTo>
                    <a:pt x="1271834" y="1271834"/>
                  </a:lnTo>
                  <a:lnTo>
                    <a:pt x="0" y="127183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grpSp>
      <p:grpSp>
        <p:nvGrpSpPr>
          <p:cNvPr id="22" name="Group 22"/>
          <p:cNvGrpSpPr/>
          <p:nvPr/>
        </p:nvGrpSpPr>
        <p:grpSpPr>
          <a:xfrm>
            <a:off x="11404854" y="6063261"/>
            <a:ext cx="1890203" cy="1732424"/>
            <a:chOff x="0" y="0"/>
            <a:chExt cx="2520270" cy="2309899"/>
          </a:xfrm>
        </p:grpSpPr>
        <p:sp>
          <p:nvSpPr>
            <p:cNvPr id="23" name="TextBox 23"/>
            <p:cNvSpPr txBox="1"/>
            <p:nvPr/>
          </p:nvSpPr>
          <p:spPr>
            <a:xfrm>
              <a:off x="0" y="1624099"/>
              <a:ext cx="2520270" cy="685800"/>
            </a:xfrm>
            <a:prstGeom prst="rect">
              <a:avLst/>
            </a:prstGeom>
          </p:spPr>
          <p:txBody>
            <a:bodyPr lIns="0" tIns="0" rIns="0" bIns="0" rtlCol="0" anchor="t">
              <a:spAutoFit/>
            </a:bodyPr>
            <a:lstStyle/>
            <a:p>
              <a:pPr algn="ctr">
                <a:lnSpc>
                  <a:spcPts val="4200"/>
                </a:lnSpc>
              </a:pPr>
              <a:r>
                <a:rPr lang="en-US" sz="3000">
                  <a:solidFill>
                    <a:srgbClr val="000000"/>
                  </a:solidFill>
                  <a:latin typeface="Public Sans"/>
                  <a:ea typeface="Public Sans"/>
                  <a:cs typeface="Public Sans"/>
                  <a:sym typeface="Public Sans"/>
                </a:rPr>
                <a:t>Lubuntu</a:t>
              </a:r>
            </a:p>
          </p:txBody>
        </p:sp>
        <p:sp>
          <p:nvSpPr>
            <p:cNvPr id="24" name="Freeform 24"/>
            <p:cNvSpPr/>
            <p:nvPr/>
          </p:nvSpPr>
          <p:spPr>
            <a:xfrm>
              <a:off x="359944" y="0"/>
              <a:ext cx="1800382" cy="1378111"/>
            </a:xfrm>
            <a:custGeom>
              <a:avLst/>
              <a:gdLst/>
              <a:ahLst/>
              <a:cxnLst/>
              <a:rect l="l" t="t" r="r" b="b"/>
              <a:pathLst>
                <a:path w="1800382" h="1378111">
                  <a:moveTo>
                    <a:pt x="0" y="0"/>
                  </a:moveTo>
                  <a:lnTo>
                    <a:pt x="1800382" y="0"/>
                  </a:lnTo>
                  <a:lnTo>
                    <a:pt x="1800382" y="1378111"/>
                  </a:lnTo>
                  <a:lnTo>
                    <a:pt x="0" y="137811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grpSp>
      <p:grpSp>
        <p:nvGrpSpPr>
          <p:cNvPr id="25" name="Group 25"/>
          <p:cNvGrpSpPr/>
          <p:nvPr/>
        </p:nvGrpSpPr>
        <p:grpSpPr>
          <a:xfrm>
            <a:off x="14725545" y="4641756"/>
            <a:ext cx="1890203" cy="1814455"/>
            <a:chOff x="0" y="0"/>
            <a:chExt cx="2520270" cy="2419273"/>
          </a:xfrm>
        </p:grpSpPr>
        <p:sp>
          <p:nvSpPr>
            <p:cNvPr id="26" name="TextBox 26"/>
            <p:cNvSpPr txBox="1"/>
            <p:nvPr/>
          </p:nvSpPr>
          <p:spPr>
            <a:xfrm>
              <a:off x="0" y="1733473"/>
              <a:ext cx="2520270" cy="685800"/>
            </a:xfrm>
            <a:prstGeom prst="rect">
              <a:avLst/>
            </a:prstGeom>
          </p:spPr>
          <p:txBody>
            <a:bodyPr lIns="0" tIns="0" rIns="0" bIns="0" rtlCol="0" anchor="t">
              <a:spAutoFit/>
            </a:bodyPr>
            <a:lstStyle/>
            <a:p>
              <a:pPr algn="ctr">
                <a:lnSpc>
                  <a:spcPts val="4200"/>
                </a:lnSpc>
              </a:pPr>
              <a:r>
                <a:rPr lang="en-US" sz="3000">
                  <a:solidFill>
                    <a:srgbClr val="000000"/>
                  </a:solidFill>
                  <a:latin typeface="Public Sans"/>
                  <a:ea typeface="Public Sans"/>
                  <a:cs typeface="Public Sans"/>
                  <a:sym typeface="Public Sans"/>
                </a:rPr>
                <a:t>Linux</a:t>
              </a:r>
            </a:p>
          </p:txBody>
        </p:sp>
        <p:sp>
          <p:nvSpPr>
            <p:cNvPr id="27" name="Freeform 27"/>
            <p:cNvSpPr/>
            <p:nvPr/>
          </p:nvSpPr>
          <p:spPr>
            <a:xfrm>
              <a:off x="610294" y="0"/>
              <a:ext cx="1299681" cy="1650865"/>
            </a:xfrm>
            <a:custGeom>
              <a:avLst/>
              <a:gdLst/>
              <a:ahLst/>
              <a:cxnLst/>
              <a:rect l="l" t="t" r="r" b="b"/>
              <a:pathLst>
                <a:path w="1299681" h="1650865">
                  <a:moveTo>
                    <a:pt x="0" y="0"/>
                  </a:moveTo>
                  <a:lnTo>
                    <a:pt x="1299682" y="0"/>
                  </a:lnTo>
                  <a:lnTo>
                    <a:pt x="1299682" y="1650865"/>
                  </a:lnTo>
                  <a:lnTo>
                    <a:pt x="0" y="165086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grpSp>
      <p:sp>
        <p:nvSpPr>
          <p:cNvPr id="28" name="Freeform 28" descr="cursor"/>
          <p:cNvSpPr/>
          <p:nvPr/>
        </p:nvSpPr>
        <p:spPr>
          <a:xfrm>
            <a:off x="16575081" y="3898982"/>
            <a:ext cx="484735" cy="825401"/>
          </a:xfrm>
          <a:custGeom>
            <a:avLst/>
            <a:gdLst/>
            <a:ahLst/>
            <a:cxnLst/>
            <a:rect l="l" t="t" r="r" b="b"/>
            <a:pathLst>
              <a:path w="484735" h="825401">
                <a:moveTo>
                  <a:pt x="0" y="0"/>
                </a:moveTo>
                <a:lnTo>
                  <a:pt x="484736" y="0"/>
                </a:lnTo>
                <a:lnTo>
                  <a:pt x="484736" y="825401"/>
                </a:lnTo>
                <a:lnTo>
                  <a:pt x="0" y="825401"/>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sp>
        <p:nvSpPr>
          <p:cNvPr id="29" name="Freeform 29">
            <a:extLst>
              <a:ext uri="{C183D7F6-B498-43B3-948B-1728B52AA6E4}">
                <adec:decorative xmlns:adec="http://schemas.microsoft.com/office/drawing/2017/decorative" val="1"/>
              </a:ext>
            </a:extLst>
          </p:cNvPr>
          <p:cNvSpPr/>
          <p:nvPr/>
        </p:nvSpPr>
        <p:spPr>
          <a:xfrm>
            <a:off x="1028700" y="8533974"/>
            <a:ext cx="724326" cy="724326"/>
          </a:xfrm>
          <a:custGeom>
            <a:avLst/>
            <a:gdLst/>
            <a:ahLst/>
            <a:cxnLst/>
            <a:rect l="l" t="t" r="r" b="b"/>
            <a:pathLst>
              <a:path w="724326" h="724326">
                <a:moveTo>
                  <a:pt x="0" y="0"/>
                </a:moveTo>
                <a:lnTo>
                  <a:pt x="724326" y="0"/>
                </a:lnTo>
                <a:lnTo>
                  <a:pt x="724326" y="724326"/>
                </a:lnTo>
                <a:lnTo>
                  <a:pt x="0" y="724326"/>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s-PE"/>
          </a:p>
        </p:txBody>
      </p:sp>
      <p:sp>
        <p:nvSpPr>
          <p:cNvPr id="30" name="Freeform 30">
            <a:extLst>
              <a:ext uri="{C183D7F6-B498-43B3-948B-1728B52AA6E4}">
                <adec:decorative xmlns:adec="http://schemas.microsoft.com/office/drawing/2017/decorative" val="1"/>
              </a:ext>
            </a:extLst>
          </p:cNvPr>
          <p:cNvSpPr/>
          <p:nvPr/>
        </p:nvSpPr>
        <p:spPr>
          <a:xfrm>
            <a:off x="1772076" y="8533974"/>
            <a:ext cx="746029" cy="724326"/>
          </a:xfrm>
          <a:custGeom>
            <a:avLst/>
            <a:gdLst/>
            <a:ahLst/>
            <a:cxnLst/>
            <a:rect l="l" t="t" r="r" b="b"/>
            <a:pathLst>
              <a:path w="746029" h="724326">
                <a:moveTo>
                  <a:pt x="0" y="0"/>
                </a:moveTo>
                <a:lnTo>
                  <a:pt x="746028" y="0"/>
                </a:lnTo>
                <a:lnTo>
                  <a:pt x="746028" y="724326"/>
                </a:lnTo>
                <a:lnTo>
                  <a:pt x="0" y="724326"/>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s-PE"/>
          </a:p>
        </p:txBody>
      </p:sp>
      <p:sp>
        <p:nvSpPr>
          <p:cNvPr id="31" name="TextBox 31"/>
          <p:cNvSpPr txBox="1"/>
          <p:nvPr/>
        </p:nvSpPr>
        <p:spPr>
          <a:xfrm>
            <a:off x="371951" y="2029542"/>
            <a:ext cx="6124682" cy="1073150"/>
          </a:xfrm>
          <a:prstGeom prst="rect">
            <a:avLst/>
          </a:prstGeom>
        </p:spPr>
        <p:txBody>
          <a:bodyPr lIns="0" tIns="0" rIns="0" bIns="0" rtlCol="0" anchor="t">
            <a:spAutoFit/>
          </a:bodyPr>
          <a:lstStyle/>
          <a:p>
            <a:pPr algn="ctr">
              <a:lnSpc>
                <a:spcPts val="6999"/>
              </a:lnSpc>
            </a:pPr>
            <a:r>
              <a:rPr lang="en-US" sz="6999" dirty="0">
                <a:solidFill>
                  <a:srgbClr val="000000"/>
                </a:solidFill>
                <a:latin typeface="Retropix"/>
                <a:ea typeface="Retropix"/>
                <a:cs typeface="Retropix"/>
                <a:sym typeface="Retropix"/>
              </a:rPr>
              <a:t>INTEGRANTES</a:t>
            </a:r>
          </a:p>
        </p:txBody>
      </p:sp>
      <p:sp>
        <p:nvSpPr>
          <p:cNvPr id="32" name="TextBox 32"/>
          <p:cNvSpPr txBox="1"/>
          <p:nvPr/>
        </p:nvSpPr>
        <p:spPr>
          <a:xfrm>
            <a:off x="10912649" y="2038219"/>
            <a:ext cx="5662432" cy="552450"/>
          </a:xfrm>
          <a:prstGeom prst="rect">
            <a:avLst/>
          </a:prstGeom>
        </p:spPr>
        <p:txBody>
          <a:bodyPr lIns="0" tIns="0" rIns="0" bIns="0" rtlCol="0" anchor="t">
            <a:spAutoFit/>
          </a:bodyPr>
          <a:lstStyle/>
          <a:p>
            <a:pPr marL="0" lvl="0" indent="0" algn="l">
              <a:lnSpc>
                <a:spcPts val="3840"/>
              </a:lnSpc>
            </a:pPr>
            <a:r>
              <a:rPr lang="en-US" sz="3200">
                <a:solidFill>
                  <a:srgbClr val="FFFFFF"/>
                </a:solidFill>
                <a:latin typeface="Retropix"/>
                <a:ea typeface="Retropix"/>
                <a:cs typeface="Retropix"/>
                <a:sym typeface="Retropix"/>
              </a:rPr>
              <a:t>Topics Covered</a:t>
            </a:r>
          </a:p>
        </p:txBody>
      </p:sp>
      <p:sp>
        <p:nvSpPr>
          <p:cNvPr id="33" name="TextBox 33"/>
          <p:cNvSpPr txBox="1"/>
          <p:nvPr/>
        </p:nvSpPr>
        <p:spPr>
          <a:xfrm>
            <a:off x="371951" y="5539458"/>
            <a:ext cx="9358685" cy="2770506"/>
          </a:xfrm>
          <a:prstGeom prst="rect">
            <a:avLst/>
          </a:prstGeom>
        </p:spPr>
        <p:txBody>
          <a:bodyPr lIns="0" tIns="0" rIns="0" bIns="0" rtlCol="0" anchor="t">
            <a:spAutoFit/>
          </a:bodyPr>
          <a:lstStyle/>
          <a:p>
            <a:pPr algn="ctr">
              <a:lnSpc>
                <a:spcPts val="5200"/>
              </a:lnSpc>
            </a:pPr>
            <a:r>
              <a:rPr lang="en-US" sz="5200">
                <a:solidFill>
                  <a:srgbClr val="000000"/>
                </a:solidFill>
                <a:latin typeface="Retropix"/>
                <a:ea typeface="Retropix"/>
                <a:cs typeface="Retropix"/>
                <a:sym typeface="Retropix"/>
              </a:rPr>
              <a:t>Diego Corcino Castillo</a:t>
            </a:r>
          </a:p>
          <a:p>
            <a:pPr algn="ctr">
              <a:lnSpc>
                <a:spcPts val="5200"/>
              </a:lnSpc>
            </a:pPr>
            <a:r>
              <a:rPr lang="en-US" sz="5200">
                <a:solidFill>
                  <a:srgbClr val="000000"/>
                </a:solidFill>
                <a:latin typeface="Retropix"/>
                <a:ea typeface="Retropix"/>
                <a:cs typeface="Retropix"/>
                <a:sym typeface="Retropix"/>
              </a:rPr>
              <a:t>Celeste Vargas Talaverano</a:t>
            </a:r>
          </a:p>
          <a:p>
            <a:pPr algn="ctr">
              <a:lnSpc>
                <a:spcPts val="5200"/>
              </a:lnSpc>
            </a:pPr>
            <a:r>
              <a:rPr lang="en-US" sz="5200">
                <a:solidFill>
                  <a:srgbClr val="000000"/>
                </a:solidFill>
                <a:latin typeface="Retropix"/>
                <a:ea typeface="Retropix"/>
                <a:cs typeface="Retropix"/>
                <a:sym typeface="Retropix"/>
              </a:rPr>
              <a:t>Adriano Barreda Jaime</a:t>
            </a:r>
          </a:p>
          <a:p>
            <a:pPr algn="ctr">
              <a:lnSpc>
                <a:spcPts val="5200"/>
              </a:lnSpc>
            </a:pPr>
            <a:r>
              <a:rPr lang="en-US" sz="5200">
                <a:solidFill>
                  <a:srgbClr val="000000"/>
                </a:solidFill>
                <a:latin typeface="Retropix"/>
                <a:ea typeface="Retropix"/>
                <a:cs typeface="Retropix"/>
                <a:sym typeface="Retropix"/>
              </a:rPr>
              <a:t>Pathrick Parinango Venegas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18B7"/>
        </a:solidFill>
        <a:effectLst/>
      </p:bgPr>
    </p:bg>
    <p:spTree>
      <p:nvGrpSpPr>
        <p:cNvPr id="1" name=""/>
        <p:cNvGrpSpPr/>
        <p:nvPr/>
      </p:nvGrpSpPr>
      <p:grpSpPr>
        <a:xfrm>
          <a:off x="0" y="0"/>
          <a:ext cx="0" cy="0"/>
          <a:chOff x="0" y="0"/>
          <a:chExt cx="0" cy="0"/>
        </a:xfrm>
      </p:grpSpPr>
      <p:grpSp>
        <p:nvGrpSpPr>
          <p:cNvPr id="2" name="Group 2"/>
          <p:cNvGrpSpPr/>
          <p:nvPr/>
        </p:nvGrpSpPr>
        <p:grpSpPr>
          <a:xfrm>
            <a:off x="0" y="9052698"/>
            <a:ext cx="18288000" cy="1234302"/>
            <a:chOff x="0" y="0"/>
            <a:chExt cx="4816593" cy="325084"/>
          </a:xfrm>
        </p:grpSpPr>
        <p:sp>
          <p:nvSpPr>
            <p:cNvPr id="3" name="Freeform 3">
              <a:extLst>
                <a:ext uri="{C183D7F6-B498-43B3-948B-1728B52AA6E4}">
                  <adec:decorative xmlns:adec="http://schemas.microsoft.com/office/drawing/2017/decorative" val="1"/>
                </a:ext>
              </a:extLst>
            </p:cNvPr>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txBody>
            <a:bodyPr/>
            <a:lstStyle/>
            <a:p>
              <a:endParaRPr lang="es-PE"/>
            </a:p>
          </p:txBody>
        </p:sp>
        <p:sp>
          <p:nvSpPr>
            <p:cNvPr id="4" name="TextBox 4"/>
            <p:cNvSpPr txBox="1"/>
            <p:nvPr/>
          </p:nvSpPr>
          <p:spPr>
            <a:xfrm>
              <a:off x="0" y="-38100"/>
              <a:ext cx="4816593" cy="363184"/>
            </a:xfrm>
            <a:prstGeom prst="rect">
              <a:avLst/>
            </a:prstGeom>
          </p:spPr>
          <p:txBody>
            <a:bodyPr lIns="254000" tIns="254000" rIns="254000" bIns="254000" rtlCol="0" anchor="ctr"/>
            <a:lstStyle/>
            <a:p>
              <a:pPr algn="l">
                <a:lnSpc>
                  <a:spcPts val="2100"/>
                </a:lnSpc>
              </a:pPr>
              <a:endParaRPr/>
            </a:p>
          </p:txBody>
        </p:sp>
      </p:grpSp>
      <p:grpSp>
        <p:nvGrpSpPr>
          <p:cNvPr id="5" name="Group 5"/>
          <p:cNvGrpSpPr/>
          <p:nvPr/>
        </p:nvGrpSpPr>
        <p:grpSpPr>
          <a:xfrm>
            <a:off x="237414" y="9267586"/>
            <a:ext cx="804526" cy="804526"/>
            <a:chOff x="0" y="0"/>
            <a:chExt cx="1072702" cy="1072702"/>
          </a:xfrm>
        </p:grpSpPr>
        <p:sp>
          <p:nvSpPr>
            <p:cNvPr id="6" name="Freeform 6"/>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sp>
          <p:nvSpPr>
            <p:cNvPr id="7" name="Freeform 7"/>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grpSp>
      <p:sp>
        <p:nvSpPr>
          <p:cNvPr id="8" name="Freeform 8" descr="a pixelated image of a printer"/>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9" name="Freeform 9" descr="a pixelated notepad"/>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sp>
        <p:nvSpPr>
          <p:cNvPr id="10" name="Freeform 10" descr="an image of the earth in a pixel art style"/>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1" name="Freeform 11" descr="a pixelated image of a dice"/>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sp>
        <p:nvSpPr>
          <p:cNvPr id="12" name="Freeform 12" descr="pixelated newspaper"/>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sp>
        <p:nvSpPr>
          <p:cNvPr id="13" name="Freeform 13" descr="cursor"/>
          <p:cNvSpPr/>
          <p:nvPr/>
        </p:nvSpPr>
        <p:spPr>
          <a:xfrm>
            <a:off x="6384158" y="4673965"/>
            <a:ext cx="484735" cy="825401"/>
          </a:xfrm>
          <a:custGeom>
            <a:avLst/>
            <a:gdLst/>
            <a:ahLst/>
            <a:cxnLst/>
            <a:rect l="l" t="t" r="r" b="b"/>
            <a:pathLst>
              <a:path w="484735" h="825401">
                <a:moveTo>
                  <a:pt x="0" y="0"/>
                </a:moveTo>
                <a:lnTo>
                  <a:pt x="484736" y="0"/>
                </a:lnTo>
                <a:lnTo>
                  <a:pt x="484736" y="825400"/>
                </a:lnTo>
                <a:lnTo>
                  <a:pt x="0" y="82540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sp>
        <p:nvSpPr>
          <p:cNvPr id="14" name="Freeform 14" descr="pixel old tech window"/>
          <p:cNvSpPr/>
          <p:nvPr/>
        </p:nvSpPr>
        <p:spPr>
          <a:xfrm>
            <a:off x="8172371" y="-204769"/>
            <a:ext cx="9874618" cy="9874618"/>
          </a:xfrm>
          <a:custGeom>
            <a:avLst/>
            <a:gdLst/>
            <a:ahLst/>
            <a:cxnLst/>
            <a:rect l="l" t="t" r="r" b="b"/>
            <a:pathLst>
              <a:path w="9874618" h="9874618">
                <a:moveTo>
                  <a:pt x="0" y="0"/>
                </a:moveTo>
                <a:lnTo>
                  <a:pt x="9874618" y="0"/>
                </a:lnTo>
                <a:lnTo>
                  <a:pt x="9874618" y="9874618"/>
                </a:lnTo>
                <a:lnTo>
                  <a:pt x="0" y="987461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grpSp>
        <p:nvGrpSpPr>
          <p:cNvPr id="15" name="Group 15"/>
          <p:cNvGrpSpPr/>
          <p:nvPr/>
        </p:nvGrpSpPr>
        <p:grpSpPr>
          <a:xfrm>
            <a:off x="639677" y="6574988"/>
            <a:ext cx="3930943" cy="2021352"/>
            <a:chOff x="0" y="0"/>
            <a:chExt cx="5241257" cy="2695135"/>
          </a:xfrm>
        </p:grpSpPr>
        <p:sp>
          <p:nvSpPr>
            <p:cNvPr id="16" name="Freeform 16" descr="old tech window ui"/>
            <p:cNvSpPr/>
            <p:nvPr/>
          </p:nvSpPr>
          <p:spPr>
            <a:xfrm>
              <a:off x="0" y="0"/>
              <a:ext cx="5241257" cy="2695135"/>
            </a:xfrm>
            <a:custGeom>
              <a:avLst/>
              <a:gdLst/>
              <a:ahLst/>
              <a:cxnLst/>
              <a:rect l="l" t="t" r="r" b="b"/>
              <a:pathLst>
                <a:path w="5241257" h="2695135">
                  <a:moveTo>
                    <a:pt x="0" y="0"/>
                  </a:moveTo>
                  <a:lnTo>
                    <a:pt x="5241257" y="0"/>
                  </a:lnTo>
                  <a:lnTo>
                    <a:pt x="5241257" y="2695135"/>
                  </a:lnTo>
                  <a:lnTo>
                    <a:pt x="0" y="2695135"/>
                  </a:lnTo>
                  <a:lnTo>
                    <a:pt x="0" y="0"/>
                  </a:lnTo>
                  <a:close/>
                </a:path>
              </a:pathLst>
            </a:custGeom>
            <a:blipFill>
              <a:blip>
                <a:extLst>
                  <a:ext uri="{96DAC541-7B7A-43D3-8B79-37D633B846F1}">
                    <asvg:svgBlip xmlns:asvg="http://schemas.microsoft.com/office/drawing/2016/SVG/main" r:embed="rId11"/>
                  </a:ext>
                </a:extLst>
              </a:blip>
              <a:stretch>
                <a:fillRect l="-1421" r="-1421"/>
              </a:stretch>
            </a:blipFill>
          </p:spPr>
          <p:txBody>
            <a:bodyPr/>
            <a:lstStyle/>
            <a:p>
              <a:endParaRPr lang="es-PE"/>
            </a:p>
          </p:txBody>
        </p:sp>
        <p:sp>
          <p:nvSpPr>
            <p:cNvPr id="17" name="TextBox 17"/>
            <p:cNvSpPr txBox="1"/>
            <p:nvPr/>
          </p:nvSpPr>
          <p:spPr>
            <a:xfrm>
              <a:off x="477037" y="1041778"/>
              <a:ext cx="4090224" cy="1133263"/>
            </a:xfrm>
            <a:prstGeom prst="rect">
              <a:avLst/>
            </a:prstGeom>
          </p:spPr>
          <p:txBody>
            <a:bodyPr lIns="0" tIns="0" rIns="0" bIns="0" rtlCol="0" anchor="t">
              <a:spAutoFit/>
            </a:bodyPr>
            <a:lstStyle/>
            <a:p>
              <a:pPr algn="ctr">
                <a:lnSpc>
                  <a:spcPts val="2209"/>
                </a:lnSpc>
                <a:spcBef>
                  <a:spcPct val="0"/>
                </a:spcBef>
              </a:pPr>
              <a:r>
                <a:rPr lang="en-US" sz="1699">
                  <a:solidFill>
                    <a:srgbClr val="000000"/>
                  </a:solidFill>
                  <a:latin typeface="Retropix"/>
                  <a:ea typeface="Retropix"/>
                  <a:cs typeface="Retropix"/>
                  <a:sym typeface="Retropix"/>
                </a:rPr>
                <a:t>TIP:  Reemplaza tus contenedores con un comando</a:t>
              </a:r>
            </a:p>
          </p:txBody>
        </p:sp>
      </p:grpSp>
      <p:grpSp>
        <p:nvGrpSpPr>
          <p:cNvPr id="18" name="Group 18"/>
          <p:cNvGrpSpPr/>
          <p:nvPr/>
        </p:nvGrpSpPr>
        <p:grpSpPr>
          <a:xfrm>
            <a:off x="237414" y="316665"/>
            <a:ext cx="2801811" cy="712035"/>
            <a:chOff x="0" y="0"/>
            <a:chExt cx="737925" cy="187532"/>
          </a:xfrm>
        </p:grpSpPr>
        <p:sp>
          <p:nvSpPr>
            <p:cNvPr id="19" name="Freeform 19">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20" name="TextBox 20"/>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12" action="ppaction://hlinksldjump"/>
                </a:rPr>
                <a:t>Back to Agenda Page</a:t>
              </a:r>
            </a:p>
          </p:txBody>
        </p:sp>
      </p:grpSp>
      <p:sp>
        <p:nvSpPr>
          <p:cNvPr id="22" name="TextBox 22"/>
          <p:cNvSpPr txBox="1"/>
          <p:nvPr/>
        </p:nvSpPr>
        <p:spPr>
          <a:xfrm>
            <a:off x="8678644" y="1986863"/>
            <a:ext cx="8574804" cy="6901180"/>
          </a:xfrm>
          <a:prstGeom prst="rect">
            <a:avLst/>
          </a:prstGeom>
        </p:spPr>
        <p:txBody>
          <a:bodyPr lIns="0" tIns="0" rIns="0" bIns="0" rtlCol="0" anchor="t">
            <a:spAutoFit/>
          </a:bodyPr>
          <a:lstStyle/>
          <a:p>
            <a:pPr algn="just">
              <a:lnSpc>
                <a:spcPts val="4480"/>
              </a:lnSpc>
            </a:pPr>
            <a:r>
              <a:rPr lang="en-US" sz="3200">
                <a:solidFill>
                  <a:srgbClr val="000000"/>
                </a:solidFill>
                <a:latin typeface="Retropix"/>
                <a:ea typeface="Retropix"/>
                <a:cs typeface="Retropix"/>
                <a:sym typeface="Retropix"/>
              </a:rPr>
              <a:t>El proyecto implica el despliegue de Calibre-Web, una aplicación de contenedores para la gestión de libros electrónicos. Se enfoca en evaluar el comportamiento del sistema operativo Linux en entornos de contenedores, centrándose en la administración del sistema de archivos. Se analiza cómo el kernel gestiona inodos, espacio en disco y fragmentación al procesar una biblioteca masiva de archivos multimedia en un entorno aislado. </a:t>
            </a:r>
          </a:p>
          <a:p>
            <a:pPr algn="just">
              <a:lnSpc>
                <a:spcPts val="5459"/>
              </a:lnSpc>
            </a:pPr>
            <a:endParaRPr lang="en-US" sz="3200">
              <a:solidFill>
                <a:srgbClr val="000000"/>
              </a:solidFill>
              <a:latin typeface="Retropix"/>
              <a:ea typeface="Retropix"/>
              <a:cs typeface="Retropix"/>
              <a:sym typeface="Retropix"/>
            </a:endParaRPr>
          </a:p>
        </p:txBody>
      </p:sp>
      <p:grpSp>
        <p:nvGrpSpPr>
          <p:cNvPr id="23" name="Group 11">
            <a:extLst>
              <a:ext uri="{FF2B5EF4-FFF2-40B4-BE49-F238E27FC236}">
                <a16:creationId xmlns:a16="http://schemas.microsoft.com/office/drawing/2014/main" id="{6496A100-C400-094F-FE0E-3E722035953E}"/>
              </a:ext>
            </a:extLst>
          </p:cNvPr>
          <p:cNvGrpSpPr/>
          <p:nvPr/>
        </p:nvGrpSpPr>
        <p:grpSpPr>
          <a:xfrm>
            <a:off x="489811" y="337148"/>
            <a:ext cx="7030821" cy="5354773"/>
            <a:chOff x="366799" y="305414"/>
            <a:chExt cx="9727899" cy="16368383"/>
          </a:xfrm>
        </p:grpSpPr>
        <p:sp>
          <p:nvSpPr>
            <p:cNvPr id="24" name="Freeform 12">
              <a:extLst>
                <a:ext uri="{FF2B5EF4-FFF2-40B4-BE49-F238E27FC236}">
                  <a16:creationId xmlns:a16="http://schemas.microsoft.com/office/drawing/2014/main" id="{5E06AC9C-74E8-83B0-28C8-DAC91A781DFB}"/>
                </a:ext>
              </a:extLst>
            </p:cNvPr>
            <p:cNvSpPr/>
            <p:nvPr/>
          </p:nvSpPr>
          <p:spPr>
            <a:xfrm>
              <a:off x="366799" y="6945898"/>
              <a:ext cx="9727899" cy="9727899"/>
            </a:xfrm>
            <a:custGeom>
              <a:avLst/>
              <a:gdLst/>
              <a:ahLst/>
              <a:cxnLst/>
              <a:rect l="l" t="t" r="r" b="b"/>
              <a:pathLst>
                <a:path w="9727899" h="9727899">
                  <a:moveTo>
                    <a:pt x="0" y="0"/>
                  </a:moveTo>
                  <a:lnTo>
                    <a:pt x="9727899" y="0"/>
                  </a:lnTo>
                  <a:lnTo>
                    <a:pt x="9727899" y="9727899"/>
                  </a:lnTo>
                  <a:lnTo>
                    <a:pt x="0" y="9727899"/>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PE"/>
            </a:p>
          </p:txBody>
        </p:sp>
        <p:sp>
          <p:nvSpPr>
            <p:cNvPr id="25" name="Freeform 13">
              <a:extLst>
                <a:ext uri="{FF2B5EF4-FFF2-40B4-BE49-F238E27FC236}">
                  <a16:creationId xmlns:a16="http://schemas.microsoft.com/office/drawing/2014/main" id="{E4E76803-9538-1BAA-6ABC-167728E206A1}"/>
                </a:ext>
              </a:extLst>
            </p:cNvPr>
            <p:cNvSpPr/>
            <p:nvPr/>
          </p:nvSpPr>
          <p:spPr>
            <a:xfrm>
              <a:off x="8868443" y="305414"/>
              <a:ext cx="472752" cy="457280"/>
            </a:xfrm>
            <a:custGeom>
              <a:avLst/>
              <a:gdLst/>
              <a:ahLst/>
              <a:cxnLst/>
              <a:rect l="l" t="t" r="r" b="b"/>
              <a:pathLst>
                <a:path w="472752" h="457280">
                  <a:moveTo>
                    <a:pt x="0" y="0"/>
                  </a:moveTo>
                  <a:lnTo>
                    <a:pt x="472751" y="0"/>
                  </a:lnTo>
                  <a:lnTo>
                    <a:pt x="472751" y="457280"/>
                  </a:lnTo>
                  <a:lnTo>
                    <a:pt x="0" y="457280"/>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s-PE" dirty="0"/>
            </a:p>
          </p:txBody>
        </p:sp>
      </p:grpSp>
      <p:sp>
        <p:nvSpPr>
          <p:cNvPr id="21" name="TextBox 21"/>
          <p:cNvSpPr txBox="1"/>
          <p:nvPr/>
        </p:nvSpPr>
        <p:spPr>
          <a:xfrm>
            <a:off x="1423082" y="3710368"/>
            <a:ext cx="5445811" cy="897682"/>
          </a:xfrm>
          <a:prstGeom prst="rect">
            <a:avLst/>
          </a:prstGeom>
        </p:spPr>
        <p:txBody>
          <a:bodyPr lIns="0" tIns="0" rIns="0" bIns="0" rtlCol="0" anchor="t">
            <a:spAutoFit/>
          </a:bodyPr>
          <a:lstStyle/>
          <a:p>
            <a:pPr algn="l">
              <a:lnSpc>
                <a:spcPts val="6999"/>
              </a:lnSpc>
            </a:pPr>
            <a:r>
              <a:rPr lang="en-US" sz="6999" dirty="0">
                <a:latin typeface="Retropix"/>
                <a:ea typeface="Retropix"/>
                <a:cs typeface="Retropix"/>
                <a:sym typeface="Retropix"/>
              </a:rPr>
              <a:t>Introduccion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8419708" y="131003"/>
            <a:ext cx="9872971" cy="9872971"/>
            <a:chOff x="0" y="0"/>
            <a:chExt cx="13163961" cy="13163961"/>
          </a:xfrm>
        </p:grpSpPr>
        <p:sp>
          <p:nvSpPr>
            <p:cNvPr id="3" name="Freeform 3"/>
            <p:cNvSpPr/>
            <p:nvPr/>
          </p:nvSpPr>
          <p:spPr>
            <a:xfrm>
              <a:off x="0" y="0"/>
              <a:ext cx="13163961" cy="13163961"/>
            </a:xfrm>
            <a:custGeom>
              <a:avLst/>
              <a:gdLst/>
              <a:ahLst/>
              <a:cxnLst/>
              <a:rect l="l" t="t" r="r" b="b"/>
              <a:pathLst>
                <a:path w="13163961" h="13163961">
                  <a:moveTo>
                    <a:pt x="0" y="0"/>
                  </a:moveTo>
                  <a:lnTo>
                    <a:pt x="13163961" y="0"/>
                  </a:lnTo>
                  <a:lnTo>
                    <a:pt x="13163961" y="13163961"/>
                  </a:lnTo>
                  <a:lnTo>
                    <a:pt x="0" y="1316396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sp>
          <p:nvSpPr>
            <p:cNvPr id="4" name="Freeform 4"/>
            <p:cNvSpPr/>
            <p:nvPr/>
          </p:nvSpPr>
          <p:spPr>
            <a:xfrm>
              <a:off x="12000930" y="413292"/>
              <a:ext cx="639736" cy="618799"/>
            </a:xfrm>
            <a:custGeom>
              <a:avLst/>
              <a:gdLst/>
              <a:ahLst/>
              <a:cxnLst/>
              <a:rect l="l" t="t" r="r" b="b"/>
              <a:pathLst>
                <a:path w="639736" h="618799">
                  <a:moveTo>
                    <a:pt x="0" y="0"/>
                  </a:moveTo>
                  <a:lnTo>
                    <a:pt x="639736" y="0"/>
                  </a:lnTo>
                  <a:lnTo>
                    <a:pt x="639736" y="618799"/>
                  </a:lnTo>
                  <a:lnTo>
                    <a:pt x="0" y="6187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grpSp>
      <p:grpSp>
        <p:nvGrpSpPr>
          <p:cNvPr id="5" name="Group 5"/>
          <p:cNvGrpSpPr/>
          <p:nvPr/>
        </p:nvGrpSpPr>
        <p:grpSpPr>
          <a:xfrm>
            <a:off x="0" y="9052698"/>
            <a:ext cx="18288000" cy="1234302"/>
            <a:chOff x="0" y="0"/>
            <a:chExt cx="4816593" cy="325084"/>
          </a:xfrm>
        </p:grpSpPr>
        <p:sp>
          <p:nvSpPr>
            <p:cNvPr id="6" name="Freeform 6">
              <a:extLst>
                <a:ext uri="{C183D7F6-B498-43B3-948B-1728B52AA6E4}">
                  <adec:decorative xmlns:adec="http://schemas.microsoft.com/office/drawing/2017/decorative" val="1"/>
                </a:ext>
              </a:extLst>
            </p:cNvPr>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txBody>
            <a:bodyPr/>
            <a:lstStyle/>
            <a:p>
              <a:endParaRPr lang="es-PE"/>
            </a:p>
          </p:txBody>
        </p:sp>
        <p:sp>
          <p:nvSpPr>
            <p:cNvPr id="7" name="TextBox 7"/>
            <p:cNvSpPr txBox="1"/>
            <p:nvPr/>
          </p:nvSpPr>
          <p:spPr>
            <a:xfrm>
              <a:off x="0" y="-38100"/>
              <a:ext cx="4816593" cy="363184"/>
            </a:xfrm>
            <a:prstGeom prst="rect">
              <a:avLst/>
            </a:prstGeom>
          </p:spPr>
          <p:txBody>
            <a:bodyPr lIns="254000" tIns="254000" rIns="254000" bIns="254000" rtlCol="0" anchor="ctr"/>
            <a:lstStyle/>
            <a:p>
              <a:pPr algn="l">
                <a:lnSpc>
                  <a:spcPts val="2100"/>
                </a:lnSpc>
              </a:pPr>
              <a:endParaRPr/>
            </a:p>
          </p:txBody>
        </p:sp>
      </p:grpSp>
      <p:grpSp>
        <p:nvGrpSpPr>
          <p:cNvPr id="8" name="Group 8"/>
          <p:cNvGrpSpPr/>
          <p:nvPr/>
        </p:nvGrpSpPr>
        <p:grpSpPr>
          <a:xfrm>
            <a:off x="237414" y="9267586"/>
            <a:ext cx="804526" cy="804526"/>
            <a:chOff x="0" y="0"/>
            <a:chExt cx="1072702" cy="1072702"/>
          </a:xfrm>
        </p:grpSpPr>
        <p:sp>
          <p:nvSpPr>
            <p:cNvPr id="9" name="Freeform 9"/>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0" name="Freeform 10"/>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pSp>
      <p:sp>
        <p:nvSpPr>
          <p:cNvPr id="11" name="Freeform 11" descr="a pixelated image of a printer"/>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2" name="Freeform 12" descr="a pixelated notepad"/>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sp>
        <p:nvSpPr>
          <p:cNvPr id="13" name="Freeform 13" descr="an image of the earth in a pixel art style"/>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sp>
        <p:nvSpPr>
          <p:cNvPr id="14" name="Freeform 14" descr="a pixelated image of a dice"/>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sp>
        <p:nvSpPr>
          <p:cNvPr id="15" name="Freeform 15" descr="pixelated newspaper"/>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grpSp>
        <p:nvGrpSpPr>
          <p:cNvPr id="16" name="Group 16"/>
          <p:cNvGrpSpPr/>
          <p:nvPr/>
        </p:nvGrpSpPr>
        <p:grpSpPr>
          <a:xfrm>
            <a:off x="15109868" y="9297158"/>
            <a:ext cx="2801811" cy="712035"/>
            <a:chOff x="0" y="0"/>
            <a:chExt cx="737925" cy="187532"/>
          </a:xfrm>
        </p:grpSpPr>
        <p:sp>
          <p:nvSpPr>
            <p:cNvPr id="17" name="Freeform 17">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18" name="TextBox 18"/>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11" action="ppaction://hlinksldjump"/>
                </a:rPr>
                <a:t>Back to Agenda Page</a:t>
              </a:r>
            </a:p>
          </p:txBody>
        </p:sp>
      </p:grpSp>
      <p:sp>
        <p:nvSpPr>
          <p:cNvPr id="19" name="Freeform 19" descr="cursor"/>
          <p:cNvSpPr/>
          <p:nvPr/>
        </p:nvSpPr>
        <p:spPr>
          <a:xfrm>
            <a:off x="6564045" y="203299"/>
            <a:ext cx="484735" cy="825401"/>
          </a:xfrm>
          <a:custGeom>
            <a:avLst/>
            <a:gdLst/>
            <a:ahLst/>
            <a:cxnLst/>
            <a:rect l="l" t="t" r="r" b="b"/>
            <a:pathLst>
              <a:path w="484735" h="825401">
                <a:moveTo>
                  <a:pt x="0" y="0"/>
                </a:moveTo>
                <a:lnTo>
                  <a:pt x="484735" y="0"/>
                </a:lnTo>
                <a:lnTo>
                  <a:pt x="484735" y="825401"/>
                </a:lnTo>
                <a:lnTo>
                  <a:pt x="0" y="825401"/>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s-PE"/>
          </a:p>
        </p:txBody>
      </p:sp>
      <p:sp>
        <p:nvSpPr>
          <p:cNvPr id="20" name="Freeform 20"/>
          <p:cNvSpPr/>
          <p:nvPr/>
        </p:nvSpPr>
        <p:spPr>
          <a:xfrm>
            <a:off x="9497880" y="1506166"/>
            <a:ext cx="7761420" cy="7761420"/>
          </a:xfrm>
          <a:custGeom>
            <a:avLst/>
            <a:gdLst/>
            <a:ahLst/>
            <a:cxnLst/>
            <a:rect l="l" t="t" r="r" b="b"/>
            <a:pathLst>
              <a:path w="7761420" h="7761420">
                <a:moveTo>
                  <a:pt x="0" y="0"/>
                </a:moveTo>
                <a:lnTo>
                  <a:pt x="7761420" y="0"/>
                </a:lnTo>
                <a:lnTo>
                  <a:pt x="7761420" y="7761420"/>
                </a:lnTo>
                <a:lnTo>
                  <a:pt x="0" y="7761420"/>
                </a:lnTo>
                <a:lnTo>
                  <a:pt x="0" y="0"/>
                </a:lnTo>
                <a:close/>
              </a:path>
            </a:pathLst>
          </a:custGeom>
          <a:blipFill>
            <a:blip r:embed="rId13"/>
            <a:stretch>
              <a:fillRect/>
            </a:stretch>
          </a:blipFill>
        </p:spPr>
        <p:txBody>
          <a:bodyPr/>
          <a:lstStyle/>
          <a:p>
            <a:endParaRPr lang="es-PE"/>
          </a:p>
        </p:txBody>
      </p:sp>
      <p:sp>
        <p:nvSpPr>
          <p:cNvPr id="21" name="TextBox 21"/>
          <p:cNvSpPr txBox="1"/>
          <p:nvPr/>
        </p:nvSpPr>
        <p:spPr>
          <a:xfrm>
            <a:off x="237414" y="121478"/>
            <a:ext cx="6326630" cy="1073150"/>
          </a:xfrm>
          <a:prstGeom prst="rect">
            <a:avLst/>
          </a:prstGeom>
        </p:spPr>
        <p:txBody>
          <a:bodyPr lIns="0" tIns="0" rIns="0" bIns="0" rtlCol="0" anchor="t">
            <a:spAutoFit/>
          </a:bodyPr>
          <a:lstStyle/>
          <a:p>
            <a:pPr algn="l">
              <a:lnSpc>
                <a:spcPts val="6999"/>
              </a:lnSpc>
            </a:pPr>
            <a:r>
              <a:rPr lang="en-US" sz="6999">
                <a:solidFill>
                  <a:srgbClr val="FFFFFF"/>
                </a:solidFill>
                <a:latin typeface="Retropix"/>
                <a:ea typeface="Retropix"/>
                <a:cs typeface="Retropix"/>
                <a:sym typeface="Retropix"/>
              </a:rPr>
              <a:t>ARQUITECTURA</a:t>
            </a:r>
          </a:p>
        </p:txBody>
      </p:sp>
      <p:sp>
        <p:nvSpPr>
          <p:cNvPr id="22" name="TextBox 22"/>
          <p:cNvSpPr txBox="1"/>
          <p:nvPr/>
        </p:nvSpPr>
        <p:spPr>
          <a:xfrm>
            <a:off x="237414" y="1187004"/>
            <a:ext cx="8038708" cy="7656195"/>
          </a:xfrm>
          <a:prstGeom prst="rect">
            <a:avLst/>
          </a:prstGeom>
        </p:spPr>
        <p:txBody>
          <a:bodyPr lIns="0" tIns="0" rIns="0" bIns="0" rtlCol="0" anchor="t">
            <a:spAutoFit/>
          </a:bodyPr>
          <a:lstStyle/>
          <a:p>
            <a:pPr algn="ctr">
              <a:lnSpc>
                <a:spcPts val="3780"/>
              </a:lnSpc>
            </a:pPr>
            <a:r>
              <a:rPr lang="en-US" sz="2700">
                <a:solidFill>
                  <a:srgbClr val="FFFFFF"/>
                </a:solidFill>
                <a:latin typeface="Retropix"/>
                <a:ea typeface="Retropix"/>
                <a:cs typeface="Retropix"/>
                <a:sym typeface="Retropix"/>
              </a:rPr>
              <a:t>El documento describe la jerarquía de contenedores, mostrando su estructura anidada. La caja gris exterior representa una instancia EC2, la caja morada es el espacio de usuario sin privilegios de root, y la caja coral es el contenedor gestionado por Podman. Se explica que las dos cajas teal son carpetas del disco del host inyectadas como bind mounts dentro del contenedor. La parte central aborda el mapeo de UID, destacando que aunque el contenedor cree tener permisos de root, en realidad, ese UID es traducido por el kernel del host a un usuario normal. Finalmente, se mencionan las rutas internas y los recursos utilizados por el contenedor, concluyendo que el puerto 8083 es la única entrada externa al sistema.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452403" y="368394"/>
            <a:ext cx="17383194" cy="9550212"/>
            <a:chOff x="0" y="0"/>
            <a:chExt cx="4578290" cy="2515282"/>
          </a:xfrm>
        </p:grpSpPr>
        <p:sp>
          <p:nvSpPr>
            <p:cNvPr id="3" name="Freeform 3">
              <a:extLst>
                <a:ext uri="{C183D7F6-B498-43B3-948B-1728B52AA6E4}">
                  <adec:decorative xmlns:adec="http://schemas.microsoft.com/office/drawing/2017/decorative" val="1"/>
                </a:ext>
              </a:extLst>
            </p:cNvPr>
            <p:cNvSpPr/>
            <p:nvPr/>
          </p:nvSpPr>
          <p:spPr>
            <a:xfrm>
              <a:off x="0" y="0"/>
              <a:ext cx="4578290" cy="2515282"/>
            </a:xfrm>
            <a:custGeom>
              <a:avLst/>
              <a:gdLst/>
              <a:ahLst/>
              <a:cxnLst/>
              <a:rect l="l" t="t" r="r" b="b"/>
              <a:pathLst>
                <a:path w="4578290" h="2515282">
                  <a:moveTo>
                    <a:pt x="0" y="0"/>
                  </a:moveTo>
                  <a:lnTo>
                    <a:pt x="4578290" y="0"/>
                  </a:lnTo>
                  <a:lnTo>
                    <a:pt x="4578290" y="2515282"/>
                  </a:lnTo>
                  <a:lnTo>
                    <a:pt x="0" y="2515282"/>
                  </a:lnTo>
                  <a:close/>
                </a:path>
              </a:pathLst>
            </a:custGeom>
            <a:solidFill>
              <a:srgbClr val="CCCCCC"/>
            </a:solidFill>
            <a:ln w="95250" cap="sq">
              <a:solidFill>
                <a:srgbClr val="1818B7"/>
              </a:solidFill>
              <a:prstDash val="sysDot"/>
              <a:miter/>
            </a:ln>
          </p:spPr>
          <p:txBody>
            <a:bodyPr/>
            <a:lstStyle/>
            <a:p>
              <a:endParaRPr lang="es-PE"/>
            </a:p>
          </p:txBody>
        </p:sp>
        <p:sp>
          <p:nvSpPr>
            <p:cNvPr id="4" name="TextBox 4"/>
            <p:cNvSpPr txBox="1"/>
            <p:nvPr/>
          </p:nvSpPr>
          <p:spPr>
            <a:xfrm>
              <a:off x="0" y="-38100"/>
              <a:ext cx="4578290" cy="2553382"/>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132554" y="9756242"/>
            <a:ext cx="2801811" cy="712035"/>
            <a:chOff x="0" y="0"/>
            <a:chExt cx="737925" cy="187532"/>
          </a:xfrm>
        </p:grpSpPr>
        <p:sp>
          <p:nvSpPr>
            <p:cNvPr id="6" name="Freeform 6">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7" name="TextBox 7"/>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2" action="ppaction://hlinksldjump"/>
                </a:rPr>
                <a:t>Back to Agenda Page</a:t>
              </a:r>
            </a:p>
          </p:txBody>
        </p:sp>
      </p:grpSp>
      <p:sp>
        <p:nvSpPr>
          <p:cNvPr id="8" name="Freeform 8" descr="pixel old tech information bubble"/>
          <p:cNvSpPr/>
          <p:nvPr/>
        </p:nvSpPr>
        <p:spPr>
          <a:xfrm>
            <a:off x="16809873" y="8760358"/>
            <a:ext cx="1025724" cy="995885"/>
          </a:xfrm>
          <a:custGeom>
            <a:avLst/>
            <a:gdLst/>
            <a:ahLst/>
            <a:cxnLst/>
            <a:rect l="l" t="t" r="r" b="b"/>
            <a:pathLst>
              <a:path w="1025724" h="995885">
                <a:moveTo>
                  <a:pt x="0" y="0"/>
                </a:moveTo>
                <a:lnTo>
                  <a:pt x="1025724" y="0"/>
                </a:lnTo>
                <a:lnTo>
                  <a:pt x="1025724" y="995884"/>
                </a:lnTo>
                <a:lnTo>
                  <a:pt x="0" y="9958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9" name="Freeform 9" descr="floppy disk"/>
          <p:cNvSpPr/>
          <p:nvPr/>
        </p:nvSpPr>
        <p:spPr>
          <a:xfrm>
            <a:off x="1026011" y="9562588"/>
            <a:ext cx="712035" cy="712035"/>
          </a:xfrm>
          <a:custGeom>
            <a:avLst/>
            <a:gdLst/>
            <a:ahLst/>
            <a:cxnLst/>
            <a:rect l="l" t="t" r="r" b="b"/>
            <a:pathLst>
              <a:path w="712035" h="712035">
                <a:moveTo>
                  <a:pt x="0" y="0"/>
                </a:moveTo>
                <a:lnTo>
                  <a:pt x="712035" y="0"/>
                </a:lnTo>
                <a:lnTo>
                  <a:pt x="712035" y="712035"/>
                </a:lnTo>
                <a:lnTo>
                  <a:pt x="0" y="712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0" name="Freeform 10" descr="pixelated dinosaur "/>
          <p:cNvSpPr/>
          <p:nvPr/>
        </p:nvSpPr>
        <p:spPr>
          <a:xfrm>
            <a:off x="2099996" y="9574965"/>
            <a:ext cx="670607" cy="712035"/>
          </a:xfrm>
          <a:custGeom>
            <a:avLst/>
            <a:gdLst/>
            <a:ahLst/>
            <a:cxnLst/>
            <a:rect l="l" t="t" r="r" b="b"/>
            <a:pathLst>
              <a:path w="670607" h="712035">
                <a:moveTo>
                  <a:pt x="0" y="0"/>
                </a:moveTo>
                <a:lnTo>
                  <a:pt x="670608" y="0"/>
                </a:lnTo>
                <a:lnTo>
                  <a:pt x="670608" y="712035"/>
                </a:lnTo>
                <a:lnTo>
                  <a:pt x="0" y="712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aphicFrame>
        <p:nvGraphicFramePr>
          <p:cNvPr id="11" name="Table 11"/>
          <p:cNvGraphicFramePr>
            <a:graphicFrameLocks noGrp="1"/>
          </p:cNvGraphicFramePr>
          <p:nvPr>
            <p:extLst>
              <p:ext uri="{D42A27DB-BD31-4B8C-83A1-F6EECF244321}">
                <p14:modId xmlns:p14="http://schemas.microsoft.com/office/powerpoint/2010/main" val="805956127"/>
              </p:ext>
            </p:extLst>
          </p:nvPr>
        </p:nvGraphicFramePr>
        <p:xfrm>
          <a:off x="1026011" y="1098967"/>
          <a:ext cx="16230600" cy="9100616"/>
        </p:xfrm>
        <a:graphic>
          <a:graphicData uri="http://schemas.openxmlformats.org/drawingml/2006/table">
            <a:tbl>
              <a:tblPr/>
              <a:tblGrid>
                <a:gridCol w="4610985">
                  <a:extLst>
                    <a:ext uri="{9D8B030D-6E8A-4147-A177-3AD203B41FA5}">
                      <a16:colId xmlns:a16="http://schemas.microsoft.com/office/drawing/2014/main" val="20000"/>
                    </a:ext>
                  </a:extLst>
                </a:gridCol>
                <a:gridCol w="6000247">
                  <a:extLst>
                    <a:ext uri="{9D8B030D-6E8A-4147-A177-3AD203B41FA5}">
                      <a16:colId xmlns:a16="http://schemas.microsoft.com/office/drawing/2014/main" val="20001"/>
                    </a:ext>
                  </a:extLst>
                </a:gridCol>
                <a:gridCol w="5619368">
                  <a:extLst>
                    <a:ext uri="{9D8B030D-6E8A-4147-A177-3AD203B41FA5}">
                      <a16:colId xmlns:a16="http://schemas.microsoft.com/office/drawing/2014/main" val="20002"/>
                    </a:ext>
                  </a:extLst>
                </a:gridCol>
              </a:tblGrid>
              <a:tr h="1361389">
                <a:tc>
                  <a:txBody>
                    <a:bodyPr/>
                    <a:lstStyle/>
                    <a:p>
                      <a:pPr algn="ctr">
                        <a:lnSpc>
                          <a:spcPts val="3359"/>
                        </a:lnSpc>
                        <a:defRPr/>
                      </a:pPr>
                      <a:r>
                        <a:rPr lang="en-US" sz="1800" dirty="0" err="1">
                          <a:solidFill>
                            <a:srgbClr val="000000"/>
                          </a:solidFill>
                          <a:latin typeface="Retropix" panose="020B0604020202020204" charset="0"/>
                          <a:ea typeface="Open Sans"/>
                          <a:cs typeface="Open Sans"/>
                          <a:sym typeface="Open Sans"/>
                        </a:rPr>
                        <a:t>Transferir</a:t>
                      </a:r>
                      <a:r>
                        <a:rPr lang="en-US" sz="1800" dirty="0">
                          <a:solidFill>
                            <a:srgbClr val="000000"/>
                          </a:solidFill>
                          <a:latin typeface="Retropix" panose="020B0604020202020204" charset="0"/>
                          <a:ea typeface="Open Sans"/>
                          <a:cs typeface="Open Sans"/>
                          <a:sym typeface="Open Sans"/>
                        </a:rPr>
                        <a:t> la imagen</a:t>
                      </a:r>
                      <a:endParaRPr lang="en-US" sz="1000" dirty="0">
                        <a:latin typeface="Retropix" panose="020B0604020202020204"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dirty="0" err="1">
                          <a:solidFill>
                            <a:srgbClr val="000000"/>
                          </a:solidFill>
                          <a:latin typeface="Retropix" panose="020B0604020202020204" charset="0"/>
                          <a:ea typeface="Open Sans"/>
                          <a:cs typeface="Open Sans"/>
                          <a:sym typeface="Open Sans"/>
                        </a:rPr>
                        <a:t>scp</a:t>
                      </a:r>
                      <a:r>
                        <a:rPr lang="en-US" sz="1800" kern="1200" dirty="0">
                          <a:solidFill>
                            <a:srgbClr val="000000"/>
                          </a:solidFill>
                          <a:latin typeface="Retropix" panose="020B0604020202020204" charset="0"/>
                          <a:ea typeface="Open Sans"/>
                          <a:cs typeface="Open Sans"/>
                          <a:sym typeface="Open Sans"/>
                        </a:rPr>
                        <a:t> -</a:t>
                      </a:r>
                      <a:r>
                        <a:rPr lang="en-US" sz="1800" kern="1200" dirty="0" err="1">
                          <a:solidFill>
                            <a:srgbClr val="000000"/>
                          </a:solidFill>
                          <a:latin typeface="Retropix" panose="020B0604020202020204" charset="0"/>
                          <a:ea typeface="Open Sans"/>
                          <a:cs typeface="Open Sans"/>
                          <a:sym typeface="Open Sans"/>
                        </a:rPr>
                        <a:t>i</a:t>
                      </a:r>
                      <a:r>
                        <a:rPr lang="en-US" sz="1800" kern="1200" dirty="0">
                          <a:solidFill>
                            <a:srgbClr val="000000"/>
                          </a:solidFill>
                          <a:latin typeface="Retropix" panose="020B0604020202020204" charset="0"/>
                          <a:ea typeface="Open Sans"/>
                          <a:cs typeface="Open Sans"/>
                          <a:sym typeface="Open Sans"/>
                        </a:rPr>
                        <a:t> "proyect16.pem" .\calibre_web.tar ubuntu@18.188.134.158:/home/ubuntu/</a:t>
                      </a:r>
                      <a:endParaRPr lang="en-US" sz="18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a:solidFill>
                            <a:srgbClr val="000000"/>
                          </a:solidFill>
                          <a:latin typeface="Retropix" panose="020B0604020202020204" charset="0"/>
                          <a:ea typeface="Open Sans"/>
                          <a:cs typeface="Open Sans"/>
                          <a:sym typeface="Open Sans"/>
                        </a:rPr>
                        <a:t>Subir la imagen empaquetada desde tu máquina local a la instancia EC2. </a:t>
                      </a:r>
                      <a:endParaRPr lang="en-US" sz="1800" kern="120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61389">
                <a:tc>
                  <a:txBody>
                    <a:bodyPr/>
                    <a:lstStyle/>
                    <a:p>
                      <a:pPr algn="ctr">
                        <a:lnSpc>
                          <a:spcPts val="2800"/>
                        </a:lnSpc>
                        <a:defRPr/>
                      </a:pPr>
                      <a:r>
                        <a:rPr lang="en-US" sz="1800" kern="1200" dirty="0">
                          <a:solidFill>
                            <a:srgbClr val="000000"/>
                          </a:solidFill>
                          <a:latin typeface="Retropix" panose="020B0604020202020204" charset="0"/>
                          <a:ea typeface="Open Sans"/>
                          <a:cs typeface="Open Sans"/>
                          <a:sym typeface="Public Sans"/>
                        </a:rPr>
                        <a:t>Mover </a:t>
                      </a:r>
                      <a:r>
                        <a:rPr lang="en-US" sz="1800" kern="1200" dirty="0" err="1">
                          <a:solidFill>
                            <a:srgbClr val="000000"/>
                          </a:solidFill>
                          <a:latin typeface="Retropix" panose="020B0604020202020204" charset="0"/>
                          <a:ea typeface="Open Sans"/>
                          <a:cs typeface="Open Sans"/>
                          <a:sym typeface="Public Sans"/>
                        </a:rPr>
                        <a:t>archivo</a:t>
                      </a:r>
                      <a:endParaRPr lang="en-US" sz="18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dirty="0" err="1">
                          <a:solidFill>
                            <a:srgbClr val="000000"/>
                          </a:solidFill>
                          <a:latin typeface="Retropix" panose="020B0604020202020204" charset="0"/>
                          <a:ea typeface="Open Sans"/>
                          <a:cs typeface="Open Sans"/>
                          <a:sym typeface="Open Sans"/>
                        </a:rPr>
                        <a:t>sudo</a:t>
                      </a:r>
                      <a:r>
                        <a:rPr lang="en-US" sz="1800" kern="1200" dirty="0">
                          <a:solidFill>
                            <a:srgbClr val="000000"/>
                          </a:solidFill>
                          <a:latin typeface="Retropix" panose="020B0604020202020204" charset="0"/>
                          <a:ea typeface="Open Sans"/>
                          <a:cs typeface="Open Sans"/>
                          <a:sym typeface="Open Sans"/>
                        </a:rPr>
                        <a:t> mv /home/ubuntu/calibre_web.tar /home/</a:t>
                      </a:r>
                      <a:r>
                        <a:rPr lang="en-US" sz="1800" kern="1200" dirty="0" err="1">
                          <a:solidFill>
                            <a:srgbClr val="000000"/>
                          </a:solidFill>
                          <a:latin typeface="Retropix" panose="020B0604020202020204" charset="0"/>
                          <a:ea typeface="Open Sans"/>
                          <a:cs typeface="Open Sans"/>
                          <a:sym typeface="Open Sans"/>
                        </a:rPr>
                        <a:t>os_user</a:t>
                      </a:r>
                      <a:r>
                        <a:rPr lang="en-US" sz="1800" kern="1200" dirty="0">
                          <a:solidFill>
                            <a:srgbClr val="000000"/>
                          </a:solidFill>
                          <a:latin typeface="Retropix" panose="020B0604020202020204" charset="0"/>
                          <a:ea typeface="Open Sans"/>
                          <a:cs typeface="Open Sans"/>
                          <a:sym typeface="Open Sans"/>
                        </a:rPr>
                        <a:t>/</a:t>
                      </a:r>
                      <a:endParaRPr lang="en-US" sz="18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a:solidFill>
                            <a:srgbClr val="000000"/>
                          </a:solidFill>
                          <a:latin typeface="Retropix" panose="020B0604020202020204" charset="0"/>
                          <a:ea typeface="Open Sans"/>
                          <a:cs typeface="Open Sans"/>
                          <a:sym typeface="Open Sans"/>
                        </a:rPr>
                        <a:t>Mover el archivo al directorio del usuario sin privilegios. </a:t>
                      </a:r>
                      <a:endParaRPr lang="en-US" sz="1800" kern="120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61389">
                <a:tc>
                  <a:txBody>
                    <a:bodyPr/>
                    <a:lstStyle/>
                    <a:p>
                      <a:pPr algn="ctr">
                        <a:lnSpc>
                          <a:spcPts val="3359"/>
                        </a:lnSpc>
                        <a:defRPr/>
                      </a:pPr>
                      <a:r>
                        <a:rPr lang="en-US" sz="1800" kern="1200">
                          <a:solidFill>
                            <a:srgbClr val="000000"/>
                          </a:solidFill>
                          <a:latin typeface="Retropix" panose="020B0604020202020204" charset="0"/>
                          <a:ea typeface="Open Sans"/>
                          <a:cs typeface="Open Sans"/>
                          <a:sym typeface="Open Sans"/>
                        </a:rPr>
                        <a:t>Cambiar propietario</a:t>
                      </a:r>
                      <a:endParaRPr lang="en-US" sz="1800" kern="120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dirty="0" err="1">
                          <a:solidFill>
                            <a:srgbClr val="000000"/>
                          </a:solidFill>
                          <a:latin typeface="Retropix" panose="020B0604020202020204" charset="0"/>
                          <a:ea typeface="Open Sans"/>
                          <a:cs typeface="Open Sans"/>
                          <a:sym typeface="Open Sans"/>
                        </a:rPr>
                        <a:t>sudo</a:t>
                      </a:r>
                      <a:r>
                        <a:rPr lang="en-US" sz="1800" kern="1200" dirty="0">
                          <a:solidFill>
                            <a:srgbClr val="000000"/>
                          </a:solidFill>
                          <a:latin typeface="Retropix" panose="020B0604020202020204" charset="0"/>
                          <a:ea typeface="Open Sans"/>
                          <a:cs typeface="Open Sans"/>
                          <a:sym typeface="Open Sans"/>
                        </a:rPr>
                        <a:t> </a:t>
                      </a:r>
                      <a:r>
                        <a:rPr lang="en-US" sz="1800" kern="1200" dirty="0" err="1">
                          <a:solidFill>
                            <a:srgbClr val="000000"/>
                          </a:solidFill>
                          <a:latin typeface="Retropix" panose="020B0604020202020204" charset="0"/>
                          <a:ea typeface="Open Sans"/>
                          <a:cs typeface="Open Sans"/>
                          <a:sym typeface="Open Sans"/>
                        </a:rPr>
                        <a:t>chown</a:t>
                      </a:r>
                      <a:r>
                        <a:rPr lang="en-US" sz="1800" kern="1200" dirty="0">
                          <a:solidFill>
                            <a:srgbClr val="000000"/>
                          </a:solidFill>
                          <a:latin typeface="Retropix" panose="020B0604020202020204" charset="0"/>
                          <a:ea typeface="Open Sans"/>
                          <a:cs typeface="Open Sans"/>
                          <a:sym typeface="Open Sans"/>
                        </a:rPr>
                        <a:t> </a:t>
                      </a:r>
                      <a:r>
                        <a:rPr lang="en-US" sz="1800" kern="1200" dirty="0" err="1">
                          <a:solidFill>
                            <a:srgbClr val="000000"/>
                          </a:solidFill>
                          <a:latin typeface="Retropix" panose="020B0604020202020204" charset="0"/>
                          <a:ea typeface="Open Sans"/>
                          <a:cs typeface="Open Sans"/>
                          <a:sym typeface="Open Sans"/>
                        </a:rPr>
                        <a:t>os_user:os_user</a:t>
                      </a:r>
                      <a:r>
                        <a:rPr lang="en-US" sz="1800" kern="1200" dirty="0">
                          <a:solidFill>
                            <a:srgbClr val="000000"/>
                          </a:solidFill>
                          <a:latin typeface="Retropix" panose="020B0604020202020204" charset="0"/>
                          <a:ea typeface="Open Sans"/>
                          <a:cs typeface="Open Sans"/>
                          <a:sym typeface="Open Sans"/>
                        </a:rPr>
                        <a:t> /home/</a:t>
                      </a:r>
                      <a:r>
                        <a:rPr lang="en-US" sz="1800" kern="1200" dirty="0" err="1">
                          <a:solidFill>
                            <a:srgbClr val="000000"/>
                          </a:solidFill>
                          <a:latin typeface="Retropix" panose="020B0604020202020204" charset="0"/>
                          <a:ea typeface="Open Sans"/>
                          <a:cs typeface="Open Sans"/>
                          <a:sym typeface="Open Sans"/>
                        </a:rPr>
                        <a:t>os_user</a:t>
                      </a:r>
                      <a:r>
                        <a:rPr lang="en-US" sz="1800" kern="1200" dirty="0">
                          <a:solidFill>
                            <a:srgbClr val="000000"/>
                          </a:solidFill>
                          <a:latin typeface="Retropix" panose="020B0604020202020204" charset="0"/>
                          <a:ea typeface="Open Sans"/>
                          <a:cs typeface="Open Sans"/>
                          <a:sym typeface="Open Sans"/>
                        </a:rPr>
                        <a:t>/calibre_web.tar</a:t>
                      </a:r>
                      <a:endParaRPr lang="en-US" sz="18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a:solidFill>
                            <a:srgbClr val="000000"/>
                          </a:solidFill>
                          <a:latin typeface="Retropix" panose="020B0604020202020204" charset="0"/>
                          <a:ea typeface="Open Sans"/>
                          <a:cs typeface="Open Sans"/>
                          <a:sym typeface="Open Sans"/>
                        </a:rPr>
                        <a:t>Asignar los permisos correctos al usuario</a:t>
                      </a:r>
                      <a:endParaRPr lang="en-US" sz="1800" kern="120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61389">
                <a:tc>
                  <a:txBody>
                    <a:bodyPr/>
                    <a:lstStyle/>
                    <a:p>
                      <a:pPr algn="ctr">
                        <a:lnSpc>
                          <a:spcPts val="3219"/>
                        </a:lnSpc>
                        <a:defRPr/>
                      </a:pPr>
                      <a:r>
                        <a:rPr lang="en-US" sz="1800" kern="1200">
                          <a:solidFill>
                            <a:srgbClr val="000000"/>
                          </a:solidFill>
                          <a:latin typeface="Retropix" panose="020B0604020202020204" charset="0"/>
                          <a:ea typeface="Open Sans"/>
                          <a:cs typeface="Open Sans"/>
                          <a:sym typeface="Open Sans"/>
                        </a:rPr>
                        <a:t>Cargar la imagen</a:t>
                      </a:r>
                      <a:endParaRPr lang="en-US" sz="1800" kern="120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dirty="0" err="1">
                          <a:solidFill>
                            <a:srgbClr val="000000"/>
                          </a:solidFill>
                          <a:latin typeface="Retropix" panose="020B0604020202020204" charset="0"/>
                          <a:ea typeface="Open Sans"/>
                          <a:cs typeface="Open Sans"/>
                          <a:sym typeface="Open Sans"/>
                        </a:rPr>
                        <a:t>podman</a:t>
                      </a:r>
                      <a:r>
                        <a:rPr lang="en-US" sz="1800" kern="1200" dirty="0">
                          <a:solidFill>
                            <a:srgbClr val="000000"/>
                          </a:solidFill>
                          <a:latin typeface="Retropix" panose="020B0604020202020204" charset="0"/>
                          <a:ea typeface="Open Sans"/>
                          <a:cs typeface="Open Sans"/>
                          <a:sym typeface="Open Sans"/>
                        </a:rPr>
                        <a:t> load -</a:t>
                      </a:r>
                      <a:r>
                        <a:rPr lang="en-US" sz="1800" kern="1200" dirty="0" err="1">
                          <a:solidFill>
                            <a:srgbClr val="000000"/>
                          </a:solidFill>
                          <a:latin typeface="Retropix" panose="020B0604020202020204" charset="0"/>
                          <a:ea typeface="Open Sans"/>
                          <a:cs typeface="Open Sans"/>
                          <a:sym typeface="Open Sans"/>
                        </a:rPr>
                        <a:t>i</a:t>
                      </a:r>
                      <a:r>
                        <a:rPr lang="en-US" sz="1800" kern="1200" dirty="0">
                          <a:solidFill>
                            <a:srgbClr val="000000"/>
                          </a:solidFill>
                          <a:latin typeface="Retropix" panose="020B0604020202020204" charset="0"/>
                          <a:ea typeface="Open Sans"/>
                          <a:cs typeface="Open Sans"/>
                          <a:sym typeface="Open Sans"/>
                        </a:rPr>
                        <a:t> ~/calibre_web.tar</a:t>
                      </a:r>
                      <a:endParaRPr lang="en-US" sz="18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a:solidFill>
                            <a:srgbClr val="000000"/>
                          </a:solidFill>
                          <a:latin typeface="Retropix" panose="020B0604020202020204" charset="0"/>
                          <a:ea typeface="Open Sans"/>
                          <a:cs typeface="Open Sans"/>
                          <a:sym typeface="Open Sans"/>
                        </a:rPr>
                        <a:t>Cargar la imagen de Docker/Podman desde el archivo .tar. </a:t>
                      </a:r>
                      <a:endParaRPr lang="en-US" sz="1800" kern="120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25374">
                <a:tc>
                  <a:txBody>
                    <a:bodyPr/>
                    <a:lstStyle/>
                    <a:p>
                      <a:pPr algn="ctr">
                        <a:lnSpc>
                          <a:spcPts val="2659"/>
                        </a:lnSpc>
                        <a:defRPr/>
                      </a:pPr>
                      <a:r>
                        <a:rPr lang="en-US" sz="1800" kern="1200">
                          <a:solidFill>
                            <a:srgbClr val="000000"/>
                          </a:solidFill>
                          <a:latin typeface="Retropix" panose="020B0604020202020204" charset="0"/>
                          <a:ea typeface="Open Sans"/>
                          <a:cs typeface="Open Sans"/>
                          <a:sym typeface="Open Sans"/>
                        </a:rPr>
                        <a:t>Crear carpetas</a:t>
                      </a:r>
                      <a:endParaRPr lang="en-US" sz="1800" kern="120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dirty="0" err="1">
                          <a:solidFill>
                            <a:srgbClr val="000000"/>
                          </a:solidFill>
                          <a:latin typeface="Retropix" panose="020B0604020202020204" charset="0"/>
                          <a:ea typeface="Open Sans"/>
                          <a:cs typeface="Open Sans"/>
                          <a:sym typeface="Open Sans"/>
                        </a:rPr>
                        <a:t>mkdir</a:t>
                      </a:r>
                      <a:r>
                        <a:rPr lang="en-US" sz="1800" kern="1200" dirty="0">
                          <a:solidFill>
                            <a:srgbClr val="000000"/>
                          </a:solidFill>
                          <a:latin typeface="Retropix" panose="020B0604020202020204" charset="0"/>
                          <a:ea typeface="Open Sans"/>
                          <a:cs typeface="Open Sans"/>
                          <a:sym typeface="Open Sans"/>
                        </a:rPr>
                        <a:t> -p ~/</a:t>
                      </a:r>
                      <a:r>
                        <a:rPr lang="en-US" sz="1800" kern="1200" dirty="0" err="1">
                          <a:solidFill>
                            <a:srgbClr val="000000"/>
                          </a:solidFill>
                          <a:latin typeface="Retropix" panose="020B0604020202020204" charset="0"/>
                          <a:ea typeface="Open Sans"/>
                          <a:cs typeface="Open Sans"/>
                          <a:sym typeface="Open Sans"/>
                        </a:rPr>
                        <a:t>proyecto_calibre</a:t>
                      </a:r>
                      <a:r>
                        <a:rPr lang="en-US" sz="1800" kern="1200" dirty="0">
                          <a:solidFill>
                            <a:srgbClr val="000000"/>
                          </a:solidFill>
                          <a:latin typeface="Retropix" panose="020B0604020202020204" charset="0"/>
                          <a:ea typeface="Open Sans"/>
                          <a:cs typeface="Open Sans"/>
                          <a:sym typeface="Open Sans"/>
                        </a:rPr>
                        <a:t>/config</a:t>
                      </a:r>
                      <a:endParaRPr lang="en-US" sz="1800" kern="1200" dirty="0">
                        <a:solidFill>
                          <a:srgbClr val="000000"/>
                        </a:solidFill>
                        <a:latin typeface="Retropix" panose="020B0604020202020204" charset="0"/>
                        <a:ea typeface="Open Sans"/>
                        <a:cs typeface="Open Sans"/>
                      </a:endParaRPr>
                    </a:p>
                    <a:p>
                      <a:pPr marL="0" algn="ctr" defTabSz="914400" rtl="0" eaLnBrk="1" latinLnBrk="0" hangingPunct="1">
                        <a:lnSpc>
                          <a:spcPts val="3359"/>
                        </a:lnSpc>
                        <a:defRPr/>
                      </a:pPr>
                      <a:endParaRPr lang="en-US" sz="1800" kern="1200" dirty="0">
                        <a:solidFill>
                          <a:srgbClr val="000000"/>
                        </a:solidFill>
                        <a:latin typeface="Retropix" panose="020B0604020202020204" charset="0"/>
                        <a:ea typeface="Open Sans"/>
                        <a:cs typeface="Open Sans"/>
                      </a:endParaRPr>
                    </a:p>
                    <a:p>
                      <a:pPr marL="0" algn="ctr" defTabSz="914400" rtl="0" eaLnBrk="1" latinLnBrk="0" hangingPunct="1">
                        <a:lnSpc>
                          <a:spcPts val="3359"/>
                        </a:lnSpc>
                        <a:defRPr/>
                      </a:pPr>
                      <a:r>
                        <a:rPr lang="en-US" sz="1800" kern="1200" dirty="0" err="1">
                          <a:solidFill>
                            <a:srgbClr val="000000"/>
                          </a:solidFill>
                          <a:latin typeface="Retropix" panose="020B0604020202020204" charset="0"/>
                          <a:ea typeface="Open Sans"/>
                          <a:cs typeface="Open Sans"/>
                          <a:sym typeface="Arimo"/>
                        </a:rPr>
                        <a:t>mkdir</a:t>
                      </a:r>
                      <a:r>
                        <a:rPr lang="en-US" sz="1800" kern="1200" dirty="0">
                          <a:solidFill>
                            <a:srgbClr val="000000"/>
                          </a:solidFill>
                          <a:latin typeface="Retropix" panose="020B0604020202020204" charset="0"/>
                          <a:ea typeface="Open Sans"/>
                          <a:cs typeface="Open Sans"/>
                          <a:sym typeface="Arimo"/>
                        </a:rPr>
                        <a:t> -p ~/</a:t>
                      </a:r>
                      <a:r>
                        <a:rPr lang="en-US" sz="1800" kern="1200" dirty="0" err="1">
                          <a:solidFill>
                            <a:srgbClr val="000000"/>
                          </a:solidFill>
                          <a:latin typeface="Retropix" panose="020B0604020202020204" charset="0"/>
                          <a:ea typeface="Open Sans"/>
                          <a:cs typeface="Open Sans"/>
                          <a:sym typeface="Arimo"/>
                        </a:rPr>
                        <a:t>proyecto_calibre</a:t>
                      </a:r>
                      <a:r>
                        <a:rPr lang="en-US" sz="1800" kern="1200" dirty="0">
                          <a:solidFill>
                            <a:srgbClr val="000000"/>
                          </a:solidFill>
                          <a:latin typeface="Retropix" panose="020B0604020202020204" charset="0"/>
                          <a:ea typeface="Open Sans"/>
                          <a:cs typeface="Open Sans"/>
                          <a:sym typeface="Arimo"/>
                        </a:rPr>
                        <a:t>/</a:t>
                      </a:r>
                      <a:r>
                        <a:rPr lang="en-US" sz="1800" kern="1200" dirty="0" err="1">
                          <a:solidFill>
                            <a:srgbClr val="000000"/>
                          </a:solidFill>
                          <a:latin typeface="Retropix" panose="020B0604020202020204" charset="0"/>
                          <a:ea typeface="Open Sans"/>
                          <a:cs typeface="Open Sans"/>
                          <a:sym typeface="Arimo"/>
                        </a:rPr>
                        <a:t>libros</a:t>
                      </a:r>
                      <a:endParaRPr lang="en-US" sz="1800" kern="1200" dirty="0">
                        <a:solidFill>
                          <a:srgbClr val="000000"/>
                        </a:solidFill>
                        <a:latin typeface="Retropix" panose="020B0604020202020204" charset="0"/>
                        <a:ea typeface="Open Sans"/>
                        <a:cs typeface="Open Sans"/>
                        <a:sym typeface="Arimo"/>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dirty="0">
                          <a:solidFill>
                            <a:srgbClr val="000000"/>
                          </a:solidFill>
                          <a:latin typeface="Retropix" panose="020B0604020202020204" charset="0"/>
                          <a:ea typeface="Open Sans"/>
                          <a:cs typeface="Open Sans"/>
                          <a:sym typeface="Public Sans"/>
                        </a:rPr>
                        <a:t>Crear </a:t>
                      </a:r>
                      <a:r>
                        <a:rPr lang="en-US" sz="1800" kern="1200" dirty="0" err="1">
                          <a:solidFill>
                            <a:srgbClr val="000000"/>
                          </a:solidFill>
                          <a:latin typeface="Retropix" panose="020B0604020202020204" charset="0"/>
                          <a:ea typeface="Open Sans"/>
                          <a:cs typeface="Open Sans"/>
                          <a:sym typeface="Public Sans"/>
                        </a:rPr>
                        <a:t>los</a:t>
                      </a:r>
                      <a:r>
                        <a:rPr lang="en-US" sz="1800" kern="1200" dirty="0">
                          <a:solidFill>
                            <a:srgbClr val="000000"/>
                          </a:solidFill>
                          <a:latin typeface="Retropix" panose="020B0604020202020204" charset="0"/>
                          <a:ea typeface="Open Sans"/>
                          <a:cs typeface="Open Sans"/>
                          <a:sym typeface="Public Sans"/>
                        </a:rPr>
                        <a:t> </a:t>
                      </a:r>
                      <a:r>
                        <a:rPr lang="en-US" sz="1800" kern="1200" dirty="0" err="1">
                          <a:solidFill>
                            <a:srgbClr val="000000"/>
                          </a:solidFill>
                          <a:latin typeface="Retropix" panose="020B0604020202020204" charset="0"/>
                          <a:ea typeface="Open Sans"/>
                          <a:cs typeface="Open Sans"/>
                          <a:sym typeface="Public Sans"/>
                        </a:rPr>
                        <a:t>directorios</a:t>
                      </a:r>
                      <a:r>
                        <a:rPr lang="en-US" sz="1800" kern="1200" dirty="0">
                          <a:solidFill>
                            <a:srgbClr val="000000"/>
                          </a:solidFill>
                          <a:latin typeface="Retropix" panose="020B0604020202020204" charset="0"/>
                          <a:ea typeface="Open Sans"/>
                          <a:cs typeface="Open Sans"/>
                          <a:sym typeface="Public Sans"/>
                        </a:rPr>
                        <a:t> para </a:t>
                      </a:r>
                      <a:r>
                        <a:rPr lang="en-US" sz="1800" kern="1200" dirty="0" err="1">
                          <a:solidFill>
                            <a:srgbClr val="000000"/>
                          </a:solidFill>
                          <a:latin typeface="Retropix" panose="020B0604020202020204" charset="0"/>
                          <a:ea typeface="Open Sans"/>
                          <a:cs typeface="Open Sans"/>
                          <a:sym typeface="Public Sans"/>
                        </a:rPr>
                        <a:t>los</a:t>
                      </a:r>
                      <a:r>
                        <a:rPr lang="en-US" sz="1800" kern="1200" dirty="0">
                          <a:solidFill>
                            <a:srgbClr val="000000"/>
                          </a:solidFill>
                          <a:latin typeface="Retropix" panose="020B0604020202020204" charset="0"/>
                          <a:ea typeface="Open Sans"/>
                          <a:cs typeface="Open Sans"/>
                          <a:sym typeface="Public Sans"/>
                        </a:rPr>
                        <a:t> </a:t>
                      </a:r>
                      <a:r>
                        <a:rPr lang="en-US" sz="1800" kern="1200" dirty="0" err="1">
                          <a:solidFill>
                            <a:srgbClr val="000000"/>
                          </a:solidFill>
                          <a:latin typeface="Retropix" panose="020B0604020202020204" charset="0"/>
                          <a:ea typeface="Open Sans"/>
                          <a:cs typeface="Open Sans"/>
                          <a:sym typeface="Public Sans"/>
                        </a:rPr>
                        <a:t>volúmenes</a:t>
                      </a:r>
                      <a:r>
                        <a:rPr lang="en-US" sz="1800" kern="1200" dirty="0">
                          <a:solidFill>
                            <a:srgbClr val="000000"/>
                          </a:solidFill>
                          <a:latin typeface="Retropix" panose="020B0604020202020204" charset="0"/>
                          <a:ea typeface="Open Sans"/>
                          <a:cs typeface="Open Sans"/>
                          <a:sym typeface="Public Sans"/>
                        </a:rPr>
                        <a:t> </a:t>
                      </a:r>
                      <a:r>
                        <a:rPr lang="en-US" sz="1800" kern="1200" dirty="0" err="1">
                          <a:solidFill>
                            <a:srgbClr val="000000"/>
                          </a:solidFill>
                          <a:latin typeface="Retropix" panose="020B0604020202020204" charset="0"/>
                          <a:ea typeface="Open Sans"/>
                          <a:cs typeface="Open Sans"/>
                          <a:sym typeface="Public Sans"/>
                        </a:rPr>
                        <a:t>persistentes</a:t>
                      </a:r>
                      <a:endParaRPr lang="en-US" sz="18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61085">
                <a:tc>
                  <a:txBody>
                    <a:bodyPr/>
                    <a:lstStyle/>
                    <a:p>
                      <a:pPr algn="ctr">
                        <a:lnSpc>
                          <a:spcPts val="2800"/>
                        </a:lnSpc>
                        <a:defRPr/>
                      </a:pPr>
                      <a:r>
                        <a:rPr lang="en-US" sz="1800" kern="1200" dirty="0" err="1">
                          <a:solidFill>
                            <a:srgbClr val="000000"/>
                          </a:solidFill>
                          <a:latin typeface="Retropix" panose="020B0604020202020204" charset="0"/>
                          <a:ea typeface="Open Sans"/>
                          <a:cs typeface="Open Sans"/>
                          <a:sym typeface="Public Sans"/>
                        </a:rPr>
                        <a:t>Ajustar</a:t>
                      </a:r>
                      <a:r>
                        <a:rPr lang="en-US" sz="1800" kern="1200" dirty="0">
                          <a:solidFill>
                            <a:srgbClr val="000000"/>
                          </a:solidFill>
                          <a:latin typeface="Retropix" panose="020B0604020202020204" charset="0"/>
                          <a:ea typeface="Open Sans"/>
                          <a:cs typeface="Open Sans"/>
                          <a:sym typeface="Public Sans"/>
                        </a:rPr>
                        <a:t> </a:t>
                      </a:r>
                      <a:r>
                        <a:rPr lang="en-US" sz="1800" kern="1200" dirty="0" err="1">
                          <a:solidFill>
                            <a:srgbClr val="000000"/>
                          </a:solidFill>
                          <a:latin typeface="Retropix" panose="020B0604020202020204" charset="0"/>
                          <a:ea typeface="Open Sans"/>
                          <a:cs typeface="Open Sans"/>
                          <a:sym typeface="Public Sans"/>
                        </a:rPr>
                        <a:t>permisos</a:t>
                      </a:r>
                      <a:r>
                        <a:rPr lang="en-US" sz="1800" kern="1200" dirty="0">
                          <a:solidFill>
                            <a:srgbClr val="000000"/>
                          </a:solidFill>
                          <a:latin typeface="Retropix" panose="020B0604020202020204" charset="0"/>
                          <a:ea typeface="Open Sans"/>
                          <a:cs typeface="Open Sans"/>
                          <a:sym typeface="Public Sans"/>
                        </a:rPr>
                        <a:t> (Pod)</a:t>
                      </a:r>
                      <a:endParaRPr lang="en-US" sz="18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600" kern="1200" dirty="0" err="1">
                          <a:solidFill>
                            <a:srgbClr val="000000"/>
                          </a:solidFill>
                          <a:latin typeface="Retropix" panose="020B0604020202020204" charset="0"/>
                          <a:ea typeface="Open Sans"/>
                          <a:cs typeface="Open Sans"/>
                          <a:sym typeface="Open Sans"/>
                        </a:rPr>
                        <a:t>podman</a:t>
                      </a:r>
                      <a:r>
                        <a:rPr lang="en-US" sz="1600" kern="1200" dirty="0">
                          <a:solidFill>
                            <a:srgbClr val="000000"/>
                          </a:solidFill>
                          <a:latin typeface="Retropix" panose="020B0604020202020204" charset="0"/>
                          <a:ea typeface="Open Sans"/>
                          <a:cs typeface="Open Sans"/>
                          <a:sym typeface="Open Sans"/>
                        </a:rPr>
                        <a:t> </a:t>
                      </a:r>
                      <a:r>
                        <a:rPr lang="en-US" sz="1600" kern="1200" dirty="0" err="1">
                          <a:solidFill>
                            <a:srgbClr val="000000"/>
                          </a:solidFill>
                          <a:latin typeface="Retropix" panose="020B0604020202020204" charset="0"/>
                          <a:ea typeface="Open Sans"/>
                          <a:cs typeface="Open Sans"/>
                          <a:sym typeface="Open Sans"/>
                        </a:rPr>
                        <a:t>unshare</a:t>
                      </a:r>
                      <a:r>
                        <a:rPr lang="en-US" sz="1600" kern="1200" dirty="0">
                          <a:solidFill>
                            <a:srgbClr val="000000"/>
                          </a:solidFill>
                          <a:latin typeface="Retropix" panose="020B0604020202020204" charset="0"/>
                          <a:ea typeface="Open Sans"/>
                          <a:cs typeface="Open Sans"/>
                          <a:sym typeface="Open Sans"/>
                        </a:rPr>
                        <a:t> </a:t>
                      </a:r>
                      <a:r>
                        <a:rPr lang="en-US" sz="1600" kern="1200" dirty="0" err="1">
                          <a:solidFill>
                            <a:srgbClr val="000000"/>
                          </a:solidFill>
                          <a:latin typeface="Retropix" panose="020B0604020202020204" charset="0"/>
                          <a:ea typeface="Open Sans"/>
                          <a:cs typeface="Open Sans"/>
                          <a:sym typeface="Open Sans"/>
                        </a:rPr>
                        <a:t>chown</a:t>
                      </a:r>
                      <a:r>
                        <a:rPr lang="en-US" sz="1600" kern="1200" dirty="0">
                          <a:solidFill>
                            <a:srgbClr val="000000"/>
                          </a:solidFill>
                          <a:latin typeface="Retropix" panose="020B0604020202020204" charset="0"/>
                          <a:ea typeface="Open Sans"/>
                          <a:cs typeface="Open Sans"/>
                          <a:sym typeface="Open Sans"/>
                        </a:rPr>
                        <a:t> -R 911:911 ~/</a:t>
                      </a:r>
                      <a:r>
                        <a:rPr lang="en-US" sz="1600" kern="1200" dirty="0" err="1">
                          <a:solidFill>
                            <a:srgbClr val="000000"/>
                          </a:solidFill>
                          <a:latin typeface="Retropix" panose="020B0604020202020204" charset="0"/>
                          <a:ea typeface="Open Sans"/>
                          <a:cs typeface="Open Sans"/>
                          <a:sym typeface="Open Sans"/>
                        </a:rPr>
                        <a:t>proyecto_calibre</a:t>
                      </a:r>
                      <a:r>
                        <a:rPr lang="en-US" sz="1600" kern="1200" dirty="0">
                          <a:solidFill>
                            <a:srgbClr val="000000"/>
                          </a:solidFill>
                          <a:latin typeface="Retropix" panose="020B0604020202020204" charset="0"/>
                          <a:ea typeface="Open Sans"/>
                          <a:cs typeface="Open Sans"/>
                          <a:sym typeface="Open Sans"/>
                        </a:rPr>
                        <a:t>/config</a:t>
                      </a:r>
                      <a:endParaRPr lang="en-US" sz="1600" kern="1200" dirty="0">
                        <a:solidFill>
                          <a:srgbClr val="000000"/>
                        </a:solidFill>
                        <a:latin typeface="Retropix" panose="020B0604020202020204" charset="0"/>
                        <a:ea typeface="Open Sans"/>
                        <a:cs typeface="Open Sans"/>
                      </a:endParaRPr>
                    </a:p>
                    <a:p>
                      <a:pPr marL="0" algn="ctr" defTabSz="914400" rtl="0" eaLnBrk="1" latinLnBrk="0" hangingPunct="1">
                        <a:lnSpc>
                          <a:spcPts val="3359"/>
                        </a:lnSpc>
                        <a:defRPr/>
                      </a:pPr>
                      <a:r>
                        <a:rPr lang="en-US" sz="1600" kern="1200" dirty="0" err="1">
                          <a:solidFill>
                            <a:srgbClr val="000000"/>
                          </a:solidFill>
                          <a:latin typeface="Retropix" panose="020B0604020202020204" charset="0"/>
                          <a:ea typeface="Open Sans"/>
                          <a:cs typeface="Open Sans"/>
                          <a:sym typeface="Arimo"/>
                        </a:rPr>
                        <a:t>podman</a:t>
                      </a:r>
                      <a:r>
                        <a:rPr lang="en-US" sz="1600" kern="1200" dirty="0">
                          <a:solidFill>
                            <a:srgbClr val="000000"/>
                          </a:solidFill>
                          <a:latin typeface="Retropix" panose="020B0604020202020204" charset="0"/>
                          <a:ea typeface="Open Sans"/>
                          <a:cs typeface="Open Sans"/>
                          <a:sym typeface="Arimo"/>
                        </a:rPr>
                        <a:t> </a:t>
                      </a:r>
                      <a:r>
                        <a:rPr lang="en-US" sz="1600" kern="1200" dirty="0" err="1">
                          <a:solidFill>
                            <a:srgbClr val="000000"/>
                          </a:solidFill>
                          <a:latin typeface="Retropix" panose="020B0604020202020204" charset="0"/>
                          <a:ea typeface="Open Sans"/>
                          <a:cs typeface="Open Sans"/>
                          <a:sym typeface="Arimo"/>
                        </a:rPr>
                        <a:t>unshare</a:t>
                      </a:r>
                      <a:r>
                        <a:rPr lang="en-US" sz="1600" kern="1200" dirty="0">
                          <a:solidFill>
                            <a:srgbClr val="000000"/>
                          </a:solidFill>
                          <a:latin typeface="Retropix" panose="020B0604020202020204" charset="0"/>
                          <a:ea typeface="Open Sans"/>
                          <a:cs typeface="Open Sans"/>
                          <a:sym typeface="Arimo"/>
                        </a:rPr>
                        <a:t> </a:t>
                      </a:r>
                      <a:r>
                        <a:rPr lang="en-US" sz="1600" kern="1200" dirty="0" err="1">
                          <a:solidFill>
                            <a:srgbClr val="000000"/>
                          </a:solidFill>
                          <a:latin typeface="Retropix" panose="020B0604020202020204" charset="0"/>
                          <a:ea typeface="Open Sans"/>
                          <a:cs typeface="Open Sans"/>
                          <a:sym typeface="Arimo"/>
                        </a:rPr>
                        <a:t>chown</a:t>
                      </a:r>
                      <a:r>
                        <a:rPr lang="en-US" sz="1600" kern="1200" dirty="0">
                          <a:solidFill>
                            <a:srgbClr val="000000"/>
                          </a:solidFill>
                          <a:latin typeface="Retropix" panose="020B0604020202020204" charset="0"/>
                          <a:ea typeface="Open Sans"/>
                          <a:cs typeface="Open Sans"/>
                          <a:sym typeface="Arimo"/>
                        </a:rPr>
                        <a:t> -R 911:911 ~/</a:t>
                      </a:r>
                      <a:r>
                        <a:rPr lang="en-US" sz="1600" kern="1200" dirty="0" err="1">
                          <a:solidFill>
                            <a:srgbClr val="000000"/>
                          </a:solidFill>
                          <a:latin typeface="Retropix" panose="020B0604020202020204" charset="0"/>
                          <a:ea typeface="Open Sans"/>
                          <a:cs typeface="Open Sans"/>
                          <a:sym typeface="Arimo"/>
                        </a:rPr>
                        <a:t>proyecto_calibre</a:t>
                      </a:r>
                      <a:r>
                        <a:rPr lang="en-US" sz="1600" kern="1200" dirty="0">
                          <a:solidFill>
                            <a:srgbClr val="000000"/>
                          </a:solidFill>
                          <a:latin typeface="Retropix" panose="020B0604020202020204" charset="0"/>
                          <a:ea typeface="Open Sans"/>
                          <a:cs typeface="Open Sans"/>
                          <a:sym typeface="Arimo"/>
                        </a:rPr>
                        <a:t>/</a:t>
                      </a:r>
                      <a:r>
                        <a:rPr lang="en-US" sz="1600" kern="1200" dirty="0" err="1">
                          <a:solidFill>
                            <a:srgbClr val="000000"/>
                          </a:solidFill>
                          <a:latin typeface="Retropix" panose="020B0604020202020204" charset="0"/>
                          <a:ea typeface="Open Sans"/>
                          <a:cs typeface="Open Sans"/>
                          <a:sym typeface="Arimo"/>
                        </a:rPr>
                        <a:t>libros</a:t>
                      </a:r>
                      <a:endParaRPr lang="en-US" sz="1600" kern="1200" dirty="0">
                        <a:solidFill>
                          <a:srgbClr val="000000"/>
                        </a:solidFill>
                        <a:latin typeface="Retropix" panose="020B0604020202020204" charset="0"/>
                        <a:ea typeface="Open Sans"/>
                        <a:cs typeface="Open Sans"/>
                        <a:sym typeface="Arimo"/>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359"/>
                        </a:lnSpc>
                        <a:defRPr/>
                      </a:pPr>
                      <a:r>
                        <a:rPr lang="en-US" sz="1800" kern="1200" dirty="0" err="1">
                          <a:solidFill>
                            <a:srgbClr val="000000"/>
                          </a:solidFill>
                          <a:latin typeface="Retropix" panose="020B0604020202020204" charset="0"/>
                          <a:ea typeface="Open Sans"/>
                          <a:cs typeface="Open Sans"/>
                          <a:sym typeface="Public Sans"/>
                        </a:rPr>
                        <a:t>Mapear</a:t>
                      </a:r>
                      <a:r>
                        <a:rPr lang="en-US" sz="1800" kern="1200" dirty="0">
                          <a:solidFill>
                            <a:srgbClr val="000000"/>
                          </a:solidFill>
                          <a:latin typeface="Retropix" panose="020B0604020202020204" charset="0"/>
                          <a:ea typeface="Open Sans"/>
                          <a:cs typeface="Open Sans"/>
                          <a:sym typeface="Public Sans"/>
                        </a:rPr>
                        <a:t> </a:t>
                      </a:r>
                      <a:r>
                        <a:rPr lang="en-US" sz="1800" kern="1200" dirty="0" err="1">
                          <a:solidFill>
                            <a:srgbClr val="000000"/>
                          </a:solidFill>
                          <a:latin typeface="Retropix" panose="020B0604020202020204" charset="0"/>
                          <a:ea typeface="Open Sans"/>
                          <a:cs typeface="Open Sans"/>
                          <a:sym typeface="Public Sans"/>
                        </a:rPr>
                        <a:t>los</a:t>
                      </a:r>
                      <a:r>
                        <a:rPr lang="en-US" sz="1800" kern="1200" dirty="0">
                          <a:solidFill>
                            <a:srgbClr val="000000"/>
                          </a:solidFill>
                          <a:latin typeface="Retropix" panose="020B0604020202020204" charset="0"/>
                          <a:ea typeface="Open Sans"/>
                          <a:cs typeface="Open Sans"/>
                          <a:sym typeface="Public Sans"/>
                        </a:rPr>
                        <a:t> </a:t>
                      </a:r>
                      <a:r>
                        <a:rPr lang="en-US" sz="1800" kern="1200" dirty="0" err="1">
                          <a:solidFill>
                            <a:srgbClr val="000000"/>
                          </a:solidFill>
                          <a:latin typeface="Retropix" panose="020B0604020202020204" charset="0"/>
                          <a:ea typeface="Open Sans"/>
                          <a:cs typeface="Open Sans"/>
                          <a:sym typeface="Public Sans"/>
                        </a:rPr>
                        <a:t>permisos</a:t>
                      </a:r>
                      <a:r>
                        <a:rPr lang="en-US" sz="1800" kern="1200" dirty="0">
                          <a:solidFill>
                            <a:srgbClr val="000000"/>
                          </a:solidFill>
                          <a:latin typeface="Retropix" panose="020B0604020202020204" charset="0"/>
                          <a:ea typeface="Open Sans"/>
                          <a:cs typeface="Open Sans"/>
                          <a:sym typeface="Public Sans"/>
                        </a:rPr>
                        <a:t> del host al </a:t>
                      </a:r>
                      <a:r>
                        <a:rPr lang="en-US" sz="1800" kern="1200" dirty="0" err="1">
                          <a:solidFill>
                            <a:srgbClr val="000000"/>
                          </a:solidFill>
                          <a:latin typeface="Retropix" panose="020B0604020202020204" charset="0"/>
                          <a:ea typeface="Open Sans"/>
                          <a:cs typeface="Open Sans"/>
                          <a:sym typeface="Public Sans"/>
                        </a:rPr>
                        <a:t>usuario</a:t>
                      </a:r>
                      <a:r>
                        <a:rPr lang="en-US" sz="1800" kern="1200" dirty="0">
                          <a:solidFill>
                            <a:srgbClr val="000000"/>
                          </a:solidFill>
                          <a:latin typeface="Retropix" panose="020B0604020202020204" charset="0"/>
                          <a:ea typeface="Open Sans"/>
                          <a:cs typeface="Open Sans"/>
                          <a:sym typeface="Public Sans"/>
                        </a:rPr>
                        <a:t> </a:t>
                      </a:r>
                      <a:r>
                        <a:rPr lang="en-US" sz="1800" kern="1200" dirty="0" err="1">
                          <a:solidFill>
                            <a:srgbClr val="000000"/>
                          </a:solidFill>
                          <a:latin typeface="Retropix" panose="020B0604020202020204" charset="0"/>
                          <a:ea typeface="Open Sans"/>
                          <a:cs typeface="Open Sans"/>
                          <a:sym typeface="Public Sans"/>
                        </a:rPr>
                        <a:t>interno</a:t>
                      </a:r>
                      <a:r>
                        <a:rPr lang="en-US" sz="1800" kern="1200" dirty="0">
                          <a:solidFill>
                            <a:srgbClr val="000000"/>
                          </a:solidFill>
                          <a:latin typeface="Retropix" panose="020B0604020202020204" charset="0"/>
                          <a:ea typeface="Open Sans"/>
                          <a:cs typeface="Open Sans"/>
                          <a:sym typeface="Public Sans"/>
                        </a:rPr>
                        <a:t> del </a:t>
                      </a:r>
                      <a:r>
                        <a:rPr lang="en-US" sz="1800" kern="1200" dirty="0" err="1">
                          <a:solidFill>
                            <a:srgbClr val="000000"/>
                          </a:solidFill>
                          <a:latin typeface="Retropix" panose="020B0604020202020204" charset="0"/>
                          <a:ea typeface="Open Sans"/>
                          <a:cs typeface="Open Sans"/>
                          <a:sym typeface="Public Sans"/>
                        </a:rPr>
                        <a:t>contenedor</a:t>
                      </a:r>
                      <a:r>
                        <a:rPr lang="en-US" sz="1800" kern="1200" dirty="0">
                          <a:solidFill>
                            <a:srgbClr val="000000"/>
                          </a:solidFill>
                          <a:latin typeface="Retropix" panose="020B0604020202020204" charset="0"/>
                          <a:ea typeface="Open Sans"/>
                          <a:cs typeface="Open Sans"/>
                          <a:sym typeface="Public Sans"/>
                        </a:rPr>
                        <a:t>.</a:t>
                      </a:r>
                      <a:endParaRPr lang="en-US" sz="18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2" name="Group 12"/>
          <p:cNvGrpSpPr/>
          <p:nvPr/>
        </p:nvGrpSpPr>
        <p:grpSpPr>
          <a:xfrm>
            <a:off x="222941" y="-131345"/>
            <a:ext cx="17842118" cy="2460625"/>
            <a:chOff x="0" y="0"/>
            <a:chExt cx="23789491" cy="3280833"/>
          </a:xfrm>
        </p:grpSpPr>
        <p:sp>
          <p:nvSpPr>
            <p:cNvPr id="13" name="TextBox 13"/>
            <p:cNvSpPr txBox="1"/>
            <p:nvPr/>
          </p:nvSpPr>
          <p:spPr>
            <a:xfrm>
              <a:off x="0" y="-9525"/>
              <a:ext cx="23789491" cy="1427692"/>
            </a:xfrm>
            <a:prstGeom prst="rect">
              <a:avLst/>
            </a:prstGeom>
          </p:spPr>
          <p:txBody>
            <a:bodyPr lIns="0" tIns="0" rIns="0" bIns="0" rtlCol="0" anchor="t">
              <a:spAutoFit/>
            </a:bodyPr>
            <a:lstStyle/>
            <a:p>
              <a:pPr marL="0" lvl="0" indent="0" algn="l">
                <a:lnSpc>
                  <a:spcPts val="6999"/>
                </a:lnSpc>
                <a:spcBef>
                  <a:spcPct val="0"/>
                </a:spcBef>
              </a:pPr>
              <a:r>
                <a:rPr lang="en-US" sz="6999">
                  <a:solidFill>
                    <a:srgbClr val="000000"/>
                  </a:solidFill>
                  <a:latin typeface="Retropix"/>
                  <a:ea typeface="Retropix"/>
                  <a:cs typeface="Retropix"/>
                  <a:sym typeface="Retropix"/>
                </a:rPr>
                <a:t>P</a:t>
              </a:r>
              <a:r>
                <a:rPr lang="en-US" sz="6999" u="none" strike="noStrike">
                  <a:solidFill>
                    <a:srgbClr val="000000"/>
                  </a:solidFill>
                  <a:latin typeface="Retropix"/>
                  <a:ea typeface="Retropix"/>
                  <a:cs typeface="Retropix"/>
                  <a:sym typeface="Retropix"/>
                </a:rPr>
                <a:t>rocedimiento: Preparación y Despliegue</a:t>
              </a:r>
            </a:p>
          </p:txBody>
        </p:sp>
        <p:sp>
          <p:nvSpPr>
            <p:cNvPr id="14" name="TextBox 14"/>
            <p:cNvSpPr txBox="1"/>
            <p:nvPr/>
          </p:nvSpPr>
          <p:spPr>
            <a:xfrm>
              <a:off x="0" y="2821517"/>
              <a:ext cx="22245405" cy="459316"/>
            </a:xfrm>
            <a:prstGeom prst="rect">
              <a:avLst/>
            </a:prstGeom>
          </p:spPr>
          <p:txBody>
            <a:bodyPr lIns="0" tIns="0" rIns="0" bIns="0" rtlCol="0" anchor="t">
              <a:spAutoFit/>
            </a:bodyPr>
            <a:lstStyle/>
            <a:p>
              <a:pPr marL="0" lvl="1" indent="0" algn="l">
                <a:lnSpc>
                  <a:spcPts val="2800"/>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449714" y="206031"/>
            <a:ext cx="17383194" cy="9550212"/>
            <a:chOff x="0" y="0"/>
            <a:chExt cx="4578290" cy="2515282"/>
          </a:xfrm>
        </p:grpSpPr>
        <p:sp>
          <p:nvSpPr>
            <p:cNvPr id="3" name="Freeform 3">
              <a:extLst>
                <a:ext uri="{C183D7F6-B498-43B3-948B-1728B52AA6E4}">
                  <adec:decorative xmlns:adec="http://schemas.microsoft.com/office/drawing/2017/decorative" val="1"/>
                </a:ext>
              </a:extLst>
            </p:cNvPr>
            <p:cNvSpPr/>
            <p:nvPr/>
          </p:nvSpPr>
          <p:spPr>
            <a:xfrm>
              <a:off x="0" y="0"/>
              <a:ext cx="4578290" cy="2515282"/>
            </a:xfrm>
            <a:custGeom>
              <a:avLst/>
              <a:gdLst/>
              <a:ahLst/>
              <a:cxnLst/>
              <a:rect l="l" t="t" r="r" b="b"/>
              <a:pathLst>
                <a:path w="4578290" h="2515282">
                  <a:moveTo>
                    <a:pt x="0" y="0"/>
                  </a:moveTo>
                  <a:lnTo>
                    <a:pt x="4578290" y="0"/>
                  </a:lnTo>
                  <a:lnTo>
                    <a:pt x="4578290" y="2515282"/>
                  </a:lnTo>
                  <a:lnTo>
                    <a:pt x="0" y="2515282"/>
                  </a:lnTo>
                  <a:close/>
                </a:path>
              </a:pathLst>
            </a:custGeom>
            <a:solidFill>
              <a:srgbClr val="CCCCCC"/>
            </a:solidFill>
            <a:ln w="95250" cap="sq">
              <a:solidFill>
                <a:srgbClr val="1818B7"/>
              </a:solidFill>
              <a:prstDash val="sysDot"/>
              <a:miter/>
            </a:ln>
          </p:spPr>
          <p:txBody>
            <a:bodyPr/>
            <a:lstStyle/>
            <a:p>
              <a:endParaRPr lang="es-PE"/>
            </a:p>
          </p:txBody>
        </p:sp>
        <p:sp>
          <p:nvSpPr>
            <p:cNvPr id="4" name="TextBox 4"/>
            <p:cNvSpPr txBox="1"/>
            <p:nvPr/>
          </p:nvSpPr>
          <p:spPr>
            <a:xfrm>
              <a:off x="0" y="-38100"/>
              <a:ext cx="4578290" cy="2553382"/>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132554" y="9756242"/>
            <a:ext cx="2801811" cy="712035"/>
            <a:chOff x="0" y="0"/>
            <a:chExt cx="737925" cy="187532"/>
          </a:xfrm>
        </p:grpSpPr>
        <p:sp>
          <p:nvSpPr>
            <p:cNvPr id="6" name="Freeform 6">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7" name="TextBox 7"/>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2" action="ppaction://hlinksldjump"/>
                </a:rPr>
                <a:t>Back to Agenda Page</a:t>
              </a:r>
            </a:p>
          </p:txBody>
        </p:sp>
      </p:grpSp>
      <p:sp>
        <p:nvSpPr>
          <p:cNvPr id="8" name="Freeform 8" descr="pixel old tech information bubble"/>
          <p:cNvSpPr/>
          <p:nvPr/>
        </p:nvSpPr>
        <p:spPr>
          <a:xfrm>
            <a:off x="16809873" y="8760358"/>
            <a:ext cx="1025724" cy="995885"/>
          </a:xfrm>
          <a:custGeom>
            <a:avLst/>
            <a:gdLst/>
            <a:ahLst/>
            <a:cxnLst/>
            <a:rect l="l" t="t" r="r" b="b"/>
            <a:pathLst>
              <a:path w="1025724" h="995885">
                <a:moveTo>
                  <a:pt x="0" y="0"/>
                </a:moveTo>
                <a:lnTo>
                  <a:pt x="1025724" y="0"/>
                </a:lnTo>
                <a:lnTo>
                  <a:pt x="1025724" y="995884"/>
                </a:lnTo>
                <a:lnTo>
                  <a:pt x="0" y="9958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9" name="Freeform 9" descr="floppy disk"/>
          <p:cNvSpPr/>
          <p:nvPr/>
        </p:nvSpPr>
        <p:spPr>
          <a:xfrm>
            <a:off x="1026011" y="9562588"/>
            <a:ext cx="712035" cy="712035"/>
          </a:xfrm>
          <a:custGeom>
            <a:avLst/>
            <a:gdLst/>
            <a:ahLst/>
            <a:cxnLst/>
            <a:rect l="l" t="t" r="r" b="b"/>
            <a:pathLst>
              <a:path w="712035" h="712035">
                <a:moveTo>
                  <a:pt x="0" y="0"/>
                </a:moveTo>
                <a:lnTo>
                  <a:pt x="712035" y="0"/>
                </a:lnTo>
                <a:lnTo>
                  <a:pt x="712035" y="712035"/>
                </a:lnTo>
                <a:lnTo>
                  <a:pt x="0" y="712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0" name="Freeform 10" descr="pixelated dinosaur "/>
          <p:cNvSpPr/>
          <p:nvPr/>
        </p:nvSpPr>
        <p:spPr>
          <a:xfrm>
            <a:off x="2099996" y="9574965"/>
            <a:ext cx="670607" cy="712035"/>
          </a:xfrm>
          <a:custGeom>
            <a:avLst/>
            <a:gdLst/>
            <a:ahLst/>
            <a:cxnLst/>
            <a:rect l="l" t="t" r="r" b="b"/>
            <a:pathLst>
              <a:path w="670607" h="712035">
                <a:moveTo>
                  <a:pt x="0" y="0"/>
                </a:moveTo>
                <a:lnTo>
                  <a:pt x="670608" y="0"/>
                </a:lnTo>
                <a:lnTo>
                  <a:pt x="670608" y="712035"/>
                </a:lnTo>
                <a:lnTo>
                  <a:pt x="0" y="7120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aphicFrame>
        <p:nvGraphicFramePr>
          <p:cNvPr id="11" name="Table 11"/>
          <p:cNvGraphicFramePr>
            <a:graphicFrameLocks noGrp="1"/>
          </p:cNvGraphicFramePr>
          <p:nvPr>
            <p:extLst>
              <p:ext uri="{D42A27DB-BD31-4B8C-83A1-F6EECF244321}">
                <p14:modId xmlns:p14="http://schemas.microsoft.com/office/powerpoint/2010/main" val="2484716810"/>
              </p:ext>
            </p:extLst>
          </p:nvPr>
        </p:nvGraphicFramePr>
        <p:xfrm>
          <a:off x="1028700" y="1028700"/>
          <a:ext cx="15781173" cy="7289407"/>
        </p:xfrm>
        <a:graphic>
          <a:graphicData uri="http://schemas.openxmlformats.org/drawingml/2006/table">
            <a:tbl>
              <a:tblPr/>
              <a:tblGrid>
                <a:gridCol w="5260391">
                  <a:extLst>
                    <a:ext uri="{9D8B030D-6E8A-4147-A177-3AD203B41FA5}">
                      <a16:colId xmlns:a16="http://schemas.microsoft.com/office/drawing/2014/main" val="20000"/>
                    </a:ext>
                  </a:extLst>
                </a:gridCol>
                <a:gridCol w="5260391">
                  <a:extLst>
                    <a:ext uri="{9D8B030D-6E8A-4147-A177-3AD203B41FA5}">
                      <a16:colId xmlns:a16="http://schemas.microsoft.com/office/drawing/2014/main" val="20001"/>
                    </a:ext>
                  </a:extLst>
                </a:gridCol>
                <a:gridCol w="5260391">
                  <a:extLst>
                    <a:ext uri="{9D8B030D-6E8A-4147-A177-3AD203B41FA5}">
                      <a16:colId xmlns:a16="http://schemas.microsoft.com/office/drawing/2014/main" val="20002"/>
                    </a:ext>
                  </a:extLst>
                </a:gridCol>
              </a:tblGrid>
              <a:tr h="3514332">
                <a:tc>
                  <a:txBody>
                    <a:bodyPr/>
                    <a:lstStyle/>
                    <a:p>
                      <a:pPr algn="ctr">
                        <a:lnSpc>
                          <a:spcPts val="3919"/>
                        </a:lnSpc>
                        <a:defRPr/>
                      </a:pPr>
                      <a:r>
                        <a:rPr lang="en-US" sz="2000" dirty="0" err="1">
                          <a:solidFill>
                            <a:srgbClr val="000000"/>
                          </a:solidFill>
                          <a:latin typeface="Retropix" panose="020B0604020202020204" charset="0"/>
                          <a:ea typeface="Open Sans"/>
                          <a:cs typeface="Open Sans"/>
                          <a:sym typeface="Open Sans"/>
                        </a:rPr>
                        <a:t>Instalar</a:t>
                      </a:r>
                      <a:r>
                        <a:rPr lang="en-US" sz="2000" dirty="0">
                          <a:solidFill>
                            <a:srgbClr val="000000"/>
                          </a:solidFill>
                          <a:latin typeface="Retropix" panose="020B0604020202020204" charset="0"/>
                          <a:ea typeface="Open Sans"/>
                          <a:cs typeface="Open Sans"/>
                          <a:sym typeface="Open Sans"/>
                        </a:rPr>
                        <a:t> </a:t>
                      </a:r>
                      <a:r>
                        <a:rPr lang="en-US" sz="2000" dirty="0" err="1">
                          <a:solidFill>
                            <a:srgbClr val="000000"/>
                          </a:solidFill>
                          <a:latin typeface="Retropix" panose="020B0604020202020204" charset="0"/>
                          <a:ea typeface="Open Sans"/>
                          <a:cs typeface="Open Sans"/>
                          <a:sym typeface="Open Sans"/>
                        </a:rPr>
                        <a:t>dependencias</a:t>
                      </a:r>
                      <a:endParaRPr lang="en-US" sz="1000" dirty="0">
                        <a:latin typeface="Retropix" panose="020B0604020202020204"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919"/>
                        </a:lnSpc>
                        <a:defRPr/>
                      </a:pPr>
                      <a:r>
                        <a:rPr lang="en-US" sz="2000" kern="1200" dirty="0" err="1">
                          <a:solidFill>
                            <a:srgbClr val="000000"/>
                          </a:solidFill>
                          <a:latin typeface="Retropix" panose="020B0604020202020204" charset="0"/>
                          <a:ea typeface="Open Sans"/>
                          <a:cs typeface="Open Sans"/>
                          <a:sym typeface="Open Sans"/>
                        </a:rPr>
                        <a:t>sudo</a:t>
                      </a:r>
                      <a:r>
                        <a:rPr lang="en-US" sz="2000" kern="1200" dirty="0">
                          <a:solidFill>
                            <a:srgbClr val="000000"/>
                          </a:solidFill>
                          <a:latin typeface="Retropix" panose="020B0604020202020204" charset="0"/>
                          <a:ea typeface="Open Sans"/>
                          <a:cs typeface="Open Sans"/>
                          <a:sym typeface="Open Sans"/>
                        </a:rPr>
                        <a:t> apt update</a:t>
                      </a:r>
                      <a:endParaRPr lang="en-US" sz="2000" kern="1200" dirty="0">
                        <a:solidFill>
                          <a:srgbClr val="000000"/>
                        </a:solidFill>
                        <a:latin typeface="Retropix" panose="020B0604020202020204" charset="0"/>
                        <a:ea typeface="Open Sans"/>
                        <a:cs typeface="Open Sans"/>
                      </a:endParaRPr>
                    </a:p>
                    <a:p>
                      <a:pPr marL="0" algn="ctr" defTabSz="914400" rtl="0" eaLnBrk="1" latinLnBrk="0" hangingPunct="1">
                        <a:lnSpc>
                          <a:spcPts val="3919"/>
                        </a:lnSpc>
                        <a:defRPr/>
                      </a:pPr>
                      <a:endParaRPr lang="en-US" sz="2000" kern="1200" dirty="0">
                        <a:solidFill>
                          <a:srgbClr val="000000"/>
                        </a:solidFill>
                        <a:latin typeface="Retropix" panose="020B0604020202020204" charset="0"/>
                        <a:ea typeface="Open Sans"/>
                        <a:cs typeface="Open Sans"/>
                      </a:endParaRPr>
                    </a:p>
                    <a:p>
                      <a:pPr marL="0" algn="ctr" defTabSz="914400" rtl="0" eaLnBrk="1" latinLnBrk="0" hangingPunct="1">
                        <a:lnSpc>
                          <a:spcPts val="3919"/>
                        </a:lnSpc>
                        <a:defRPr/>
                      </a:pPr>
                      <a:r>
                        <a:rPr lang="en-US" sz="2000" kern="1200" dirty="0" err="1">
                          <a:solidFill>
                            <a:srgbClr val="000000"/>
                          </a:solidFill>
                          <a:latin typeface="Retropix" panose="020B0604020202020204" charset="0"/>
                          <a:ea typeface="Open Sans"/>
                          <a:cs typeface="Open Sans"/>
                          <a:sym typeface="Arimo"/>
                        </a:rPr>
                        <a:t>sudo</a:t>
                      </a:r>
                      <a:r>
                        <a:rPr lang="en-US" sz="2000" kern="1200" dirty="0">
                          <a:solidFill>
                            <a:srgbClr val="000000"/>
                          </a:solidFill>
                          <a:latin typeface="Retropix" panose="020B0604020202020204" charset="0"/>
                          <a:ea typeface="Open Sans"/>
                          <a:cs typeface="Open Sans"/>
                          <a:sym typeface="Arimo"/>
                        </a:rPr>
                        <a:t> apt install -y </a:t>
                      </a:r>
                      <a:r>
                        <a:rPr lang="en-US" sz="2000" kern="1200" dirty="0" err="1">
                          <a:solidFill>
                            <a:srgbClr val="000000"/>
                          </a:solidFill>
                          <a:latin typeface="Retropix" panose="020B0604020202020204" charset="0"/>
                          <a:ea typeface="Open Sans"/>
                          <a:cs typeface="Open Sans"/>
                          <a:sym typeface="Arimo"/>
                        </a:rPr>
                        <a:t>calibre</a:t>
                      </a:r>
                      <a:endParaRPr lang="en-US" sz="2000" kern="1200" dirty="0">
                        <a:solidFill>
                          <a:srgbClr val="000000"/>
                        </a:solidFill>
                        <a:latin typeface="Retropix" panose="020B0604020202020204" charset="0"/>
                        <a:ea typeface="Open Sans"/>
                        <a:cs typeface="Open Sans"/>
                        <a:sym typeface="Arimo"/>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919"/>
                        </a:lnSpc>
                        <a:defRPr/>
                      </a:pPr>
                      <a:r>
                        <a:rPr lang="en-US" sz="2000" kern="1200" dirty="0" err="1">
                          <a:solidFill>
                            <a:srgbClr val="000000"/>
                          </a:solidFill>
                          <a:latin typeface="Retropix" panose="020B0604020202020204" charset="0"/>
                          <a:ea typeface="Open Sans"/>
                          <a:cs typeface="Open Sans"/>
                          <a:sym typeface="Open Sans"/>
                        </a:rPr>
                        <a:t>Instalar</a:t>
                      </a:r>
                      <a:r>
                        <a:rPr lang="en-US" sz="2000" kern="1200" dirty="0">
                          <a:solidFill>
                            <a:srgbClr val="000000"/>
                          </a:solidFill>
                          <a:latin typeface="Retropix" panose="020B0604020202020204" charset="0"/>
                          <a:ea typeface="Open Sans"/>
                          <a:cs typeface="Open Sans"/>
                          <a:sym typeface="Open Sans"/>
                        </a:rPr>
                        <a:t> las </a:t>
                      </a:r>
                      <a:r>
                        <a:rPr lang="en-US" sz="2000" kern="1200" dirty="0" err="1">
                          <a:solidFill>
                            <a:srgbClr val="000000"/>
                          </a:solidFill>
                          <a:latin typeface="Retropix" panose="020B0604020202020204" charset="0"/>
                          <a:ea typeface="Open Sans"/>
                          <a:cs typeface="Open Sans"/>
                          <a:sym typeface="Open Sans"/>
                        </a:rPr>
                        <a:t>herramientas</a:t>
                      </a:r>
                      <a:r>
                        <a:rPr lang="en-US" sz="2000" kern="1200" dirty="0">
                          <a:solidFill>
                            <a:srgbClr val="000000"/>
                          </a:solidFill>
                          <a:latin typeface="Retropix" panose="020B0604020202020204" charset="0"/>
                          <a:ea typeface="Open Sans"/>
                          <a:cs typeface="Open Sans"/>
                          <a:sym typeface="Open Sans"/>
                        </a:rPr>
                        <a:t> de </a:t>
                      </a:r>
                      <a:r>
                        <a:rPr lang="en-US" sz="2000" kern="1200" dirty="0" err="1">
                          <a:solidFill>
                            <a:srgbClr val="000000"/>
                          </a:solidFill>
                          <a:latin typeface="Retropix" panose="020B0604020202020204" charset="0"/>
                          <a:ea typeface="Open Sans"/>
                          <a:cs typeface="Open Sans"/>
                          <a:sym typeface="Open Sans"/>
                        </a:rPr>
                        <a:t>Calibre</a:t>
                      </a:r>
                      <a:r>
                        <a:rPr lang="en-US" sz="2000" kern="1200" dirty="0">
                          <a:solidFill>
                            <a:srgbClr val="000000"/>
                          </a:solidFill>
                          <a:latin typeface="Retropix" panose="020B0604020202020204" charset="0"/>
                          <a:ea typeface="Open Sans"/>
                          <a:cs typeface="Open Sans"/>
                          <a:sym typeface="Open Sans"/>
                        </a:rPr>
                        <a:t> </a:t>
                      </a:r>
                      <a:r>
                        <a:rPr lang="en-US" sz="2000" kern="1200" dirty="0" err="1">
                          <a:solidFill>
                            <a:srgbClr val="000000"/>
                          </a:solidFill>
                          <a:latin typeface="Retropix" panose="020B0604020202020204" charset="0"/>
                          <a:ea typeface="Open Sans"/>
                          <a:cs typeface="Open Sans"/>
                          <a:sym typeface="Open Sans"/>
                        </a:rPr>
                        <a:t>en</a:t>
                      </a:r>
                      <a:r>
                        <a:rPr lang="en-US" sz="2000" kern="1200" dirty="0">
                          <a:solidFill>
                            <a:srgbClr val="000000"/>
                          </a:solidFill>
                          <a:latin typeface="Retropix" panose="020B0604020202020204" charset="0"/>
                          <a:ea typeface="Open Sans"/>
                          <a:cs typeface="Open Sans"/>
                          <a:sym typeface="Open Sans"/>
                        </a:rPr>
                        <a:t> el host para </a:t>
                      </a:r>
                      <a:r>
                        <a:rPr lang="en-US" sz="2000" kern="1200" dirty="0" err="1">
                          <a:solidFill>
                            <a:srgbClr val="000000"/>
                          </a:solidFill>
                          <a:latin typeface="Retropix" panose="020B0604020202020204" charset="0"/>
                          <a:ea typeface="Open Sans"/>
                          <a:cs typeface="Open Sans"/>
                          <a:sym typeface="Open Sans"/>
                        </a:rPr>
                        <a:t>interactuar</a:t>
                      </a:r>
                      <a:r>
                        <a:rPr lang="en-US" sz="2000" kern="1200" dirty="0">
                          <a:solidFill>
                            <a:srgbClr val="000000"/>
                          </a:solidFill>
                          <a:latin typeface="Retropix" panose="020B0604020202020204" charset="0"/>
                          <a:ea typeface="Open Sans"/>
                          <a:cs typeface="Open Sans"/>
                          <a:sym typeface="Open Sans"/>
                        </a:rPr>
                        <a:t> con la base de </a:t>
                      </a:r>
                      <a:r>
                        <a:rPr lang="en-US" sz="2000" kern="1200" dirty="0" err="1">
                          <a:solidFill>
                            <a:srgbClr val="000000"/>
                          </a:solidFill>
                          <a:latin typeface="Retropix" panose="020B0604020202020204" charset="0"/>
                          <a:ea typeface="Open Sans"/>
                          <a:cs typeface="Open Sans"/>
                          <a:sym typeface="Open Sans"/>
                        </a:rPr>
                        <a:t>datos</a:t>
                      </a:r>
                      <a:r>
                        <a:rPr lang="en-US" sz="2000" kern="1200" dirty="0">
                          <a:solidFill>
                            <a:srgbClr val="000000"/>
                          </a:solidFill>
                          <a:latin typeface="Retropix" panose="020B0604020202020204" charset="0"/>
                          <a:ea typeface="Open Sans"/>
                          <a:cs typeface="Open Sans"/>
                          <a:sym typeface="Open Sans"/>
                        </a:rPr>
                        <a:t>. </a:t>
                      </a:r>
                      <a:endParaRPr lang="en-US" sz="20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14332">
                <a:tc>
                  <a:txBody>
                    <a:bodyPr/>
                    <a:lstStyle/>
                    <a:p>
                      <a:pPr marL="0" algn="ctr" defTabSz="914400" rtl="0" eaLnBrk="1" latinLnBrk="0" hangingPunct="1">
                        <a:lnSpc>
                          <a:spcPts val="3919"/>
                        </a:lnSpc>
                        <a:defRPr/>
                      </a:pPr>
                      <a:r>
                        <a:rPr lang="en-US" sz="2000" kern="1200" dirty="0" err="1">
                          <a:solidFill>
                            <a:srgbClr val="000000"/>
                          </a:solidFill>
                          <a:latin typeface="Retropix" panose="020B0604020202020204" charset="0"/>
                          <a:ea typeface="Open Sans"/>
                          <a:cs typeface="Open Sans"/>
                          <a:sym typeface="Open Sans"/>
                        </a:rPr>
                        <a:t>Levantar</a:t>
                      </a:r>
                      <a:r>
                        <a:rPr lang="en-US" sz="2000" kern="1200" dirty="0">
                          <a:solidFill>
                            <a:srgbClr val="000000"/>
                          </a:solidFill>
                          <a:latin typeface="Retropix" panose="020B0604020202020204" charset="0"/>
                          <a:ea typeface="Open Sans"/>
                          <a:cs typeface="Open Sans"/>
                          <a:sym typeface="Open Sans"/>
                        </a:rPr>
                        <a:t> </a:t>
                      </a:r>
                      <a:r>
                        <a:rPr lang="en-US" sz="2000" kern="1200" dirty="0" err="1">
                          <a:solidFill>
                            <a:srgbClr val="000000"/>
                          </a:solidFill>
                          <a:latin typeface="Retropix" panose="020B0604020202020204" charset="0"/>
                          <a:ea typeface="Open Sans"/>
                          <a:cs typeface="Open Sans"/>
                          <a:sym typeface="Open Sans"/>
                        </a:rPr>
                        <a:t>contenedor</a:t>
                      </a:r>
                      <a:endParaRPr lang="en-US" sz="20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919"/>
                        </a:lnSpc>
                        <a:defRPr/>
                      </a:pPr>
                      <a:r>
                        <a:rPr lang="en-US" sz="2000" kern="1200" dirty="0" err="1">
                          <a:solidFill>
                            <a:srgbClr val="000000"/>
                          </a:solidFill>
                          <a:latin typeface="Retropix" panose="020B0604020202020204" charset="0"/>
                          <a:ea typeface="Open Sans"/>
                          <a:cs typeface="Open Sans"/>
                          <a:sym typeface="Open Sans"/>
                        </a:rPr>
                        <a:t>podman</a:t>
                      </a:r>
                      <a:r>
                        <a:rPr lang="en-US" sz="2000" kern="1200" dirty="0">
                          <a:solidFill>
                            <a:srgbClr val="000000"/>
                          </a:solidFill>
                          <a:latin typeface="Retropix" panose="020B0604020202020204" charset="0"/>
                          <a:ea typeface="Open Sans"/>
                          <a:cs typeface="Open Sans"/>
                          <a:sym typeface="Open Sans"/>
                        </a:rPr>
                        <a:t> run -d --name </a:t>
                      </a:r>
                      <a:r>
                        <a:rPr lang="en-US" sz="2000" kern="1200" dirty="0" err="1">
                          <a:solidFill>
                            <a:srgbClr val="000000"/>
                          </a:solidFill>
                          <a:latin typeface="Retropix" panose="020B0604020202020204" charset="0"/>
                          <a:ea typeface="Open Sans"/>
                          <a:cs typeface="Open Sans"/>
                          <a:sym typeface="Open Sans"/>
                        </a:rPr>
                        <a:t>calibre_app</a:t>
                      </a:r>
                      <a:r>
                        <a:rPr lang="en-US" sz="2000" kern="1200" dirty="0">
                          <a:solidFill>
                            <a:srgbClr val="000000"/>
                          </a:solidFill>
                          <a:latin typeface="Retropix" panose="020B0604020202020204" charset="0"/>
                          <a:ea typeface="Open Sans"/>
                          <a:cs typeface="Open Sans"/>
                          <a:sym typeface="Open Sans"/>
                        </a:rPr>
                        <a:t> -p 8083:8083 -v ~/</a:t>
                      </a:r>
                      <a:r>
                        <a:rPr lang="en-US" sz="2000" kern="1200" dirty="0" err="1">
                          <a:solidFill>
                            <a:srgbClr val="000000"/>
                          </a:solidFill>
                          <a:latin typeface="Retropix" panose="020B0604020202020204" charset="0"/>
                          <a:ea typeface="Open Sans"/>
                          <a:cs typeface="Open Sans"/>
                          <a:sym typeface="Open Sans"/>
                        </a:rPr>
                        <a:t>proyecto_calibre</a:t>
                      </a:r>
                      <a:r>
                        <a:rPr lang="en-US" sz="2000" kern="1200" dirty="0">
                          <a:solidFill>
                            <a:srgbClr val="000000"/>
                          </a:solidFill>
                          <a:latin typeface="Retropix" panose="020B0604020202020204" charset="0"/>
                          <a:ea typeface="Open Sans"/>
                          <a:cs typeface="Open Sans"/>
                          <a:sym typeface="Open Sans"/>
                        </a:rPr>
                        <a:t>/config:/</a:t>
                      </a:r>
                      <a:r>
                        <a:rPr lang="en-US" sz="2000" kern="1200" dirty="0" err="1">
                          <a:solidFill>
                            <a:srgbClr val="000000"/>
                          </a:solidFill>
                          <a:latin typeface="Retropix" panose="020B0604020202020204" charset="0"/>
                          <a:ea typeface="Open Sans"/>
                          <a:cs typeface="Open Sans"/>
                          <a:sym typeface="Open Sans"/>
                        </a:rPr>
                        <a:t>config:Z</a:t>
                      </a:r>
                      <a:r>
                        <a:rPr lang="en-US" sz="2000" kern="1200" dirty="0">
                          <a:solidFill>
                            <a:srgbClr val="000000"/>
                          </a:solidFill>
                          <a:latin typeface="Retropix" panose="020B0604020202020204" charset="0"/>
                          <a:ea typeface="Open Sans"/>
                          <a:cs typeface="Open Sans"/>
                          <a:sym typeface="Open Sans"/>
                        </a:rPr>
                        <a:t> -v ~/</a:t>
                      </a:r>
                      <a:r>
                        <a:rPr lang="en-US" sz="2000" kern="1200" dirty="0" err="1">
                          <a:solidFill>
                            <a:srgbClr val="000000"/>
                          </a:solidFill>
                          <a:latin typeface="Retropix" panose="020B0604020202020204" charset="0"/>
                          <a:ea typeface="Open Sans"/>
                          <a:cs typeface="Open Sans"/>
                          <a:sym typeface="Open Sans"/>
                        </a:rPr>
                        <a:t>proyecto_calibre</a:t>
                      </a:r>
                      <a:r>
                        <a:rPr lang="en-US" sz="2000" kern="1200" dirty="0">
                          <a:solidFill>
                            <a:srgbClr val="000000"/>
                          </a:solidFill>
                          <a:latin typeface="Retropix" panose="020B0604020202020204" charset="0"/>
                          <a:ea typeface="Open Sans"/>
                          <a:cs typeface="Open Sans"/>
                          <a:sym typeface="Open Sans"/>
                        </a:rPr>
                        <a:t>/</a:t>
                      </a:r>
                      <a:r>
                        <a:rPr lang="en-US" sz="2000" kern="1200" dirty="0" err="1">
                          <a:solidFill>
                            <a:srgbClr val="000000"/>
                          </a:solidFill>
                          <a:latin typeface="Retropix" panose="020B0604020202020204" charset="0"/>
                          <a:ea typeface="Open Sans"/>
                          <a:cs typeface="Open Sans"/>
                          <a:sym typeface="Open Sans"/>
                        </a:rPr>
                        <a:t>libros</a:t>
                      </a:r>
                      <a:r>
                        <a:rPr lang="en-US" sz="2000" kern="1200" dirty="0">
                          <a:solidFill>
                            <a:srgbClr val="000000"/>
                          </a:solidFill>
                          <a:latin typeface="Retropix" panose="020B0604020202020204" charset="0"/>
                          <a:ea typeface="Open Sans"/>
                          <a:cs typeface="Open Sans"/>
                          <a:sym typeface="Open Sans"/>
                        </a:rPr>
                        <a:t>:/</a:t>
                      </a:r>
                      <a:r>
                        <a:rPr lang="en-US" sz="2000" kern="1200" dirty="0" err="1">
                          <a:solidFill>
                            <a:srgbClr val="000000"/>
                          </a:solidFill>
                          <a:latin typeface="Retropix" panose="020B0604020202020204" charset="0"/>
                          <a:ea typeface="Open Sans"/>
                          <a:cs typeface="Open Sans"/>
                          <a:sym typeface="Open Sans"/>
                        </a:rPr>
                        <a:t>books:Z</a:t>
                      </a:r>
                      <a:r>
                        <a:rPr lang="en-US" sz="2000" kern="1200" dirty="0">
                          <a:solidFill>
                            <a:srgbClr val="000000"/>
                          </a:solidFill>
                          <a:latin typeface="Retropix" panose="020B0604020202020204" charset="0"/>
                          <a:ea typeface="Open Sans"/>
                          <a:cs typeface="Open Sans"/>
                          <a:sym typeface="Open Sans"/>
                        </a:rPr>
                        <a:t> --memory="512m" --memory-swap="768m" --</a:t>
                      </a:r>
                      <a:r>
                        <a:rPr lang="en-US" sz="2000" kern="1200" dirty="0" err="1">
                          <a:solidFill>
                            <a:srgbClr val="000000"/>
                          </a:solidFill>
                          <a:latin typeface="Retropix" panose="020B0604020202020204" charset="0"/>
                          <a:ea typeface="Open Sans"/>
                          <a:cs typeface="Open Sans"/>
                          <a:sym typeface="Open Sans"/>
                        </a:rPr>
                        <a:t>cpus</a:t>
                      </a:r>
                      <a:r>
                        <a:rPr lang="en-US" sz="2000" kern="1200" dirty="0">
                          <a:solidFill>
                            <a:srgbClr val="000000"/>
                          </a:solidFill>
                          <a:latin typeface="Retropix" panose="020B0604020202020204" charset="0"/>
                          <a:ea typeface="Open Sans"/>
                          <a:cs typeface="Open Sans"/>
                          <a:sym typeface="Open Sans"/>
                        </a:rPr>
                        <a:t>="0.5" docker.io/</a:t>
                      </a:r>
                      <a:r>
                        <a:rPr lang="en-US" sz="2000" kern="1200" dirty="0" err="1">
                          <a:solidFill>
                            <a:srgbClr val="000000"/>
                          </a:solidFill>
                          <a:latin typeface="Retropix" panose="020B0604020202020204" charset="0"/>
                          <a:ea typeface="Open Sans"/>
                          <a:cs typeface="Open Sans"/>
                          <a:sym typeface="Open Sans"/>
                        </a:rPr>
                        <a:t>linuxserver</a:t>
                      </a:r>
                      <a:r>
                        <a:rPr lang="en-US" sz="2000" kern="1200" dirty="0">
                          <a:solidFill>
                            <a:srgbClr val="000000"/>
                          </a:solidFill>
                          <a:latin typeface="Retropix" panose="020B0604020202020204" charset="0"/>
                          <a:ea typeface="Open Sans"/>
                          <a:cs typeface="Open Sans"/>
                          <a:sym typeface="Open Sans"/>
                        </a:rPr>
                        <a:t>/</a:t>
                      </a:r>
                      <a:r>
                        <a:rPr lang="en-US" sz="2000" kern="1200" dirty="0" err="1">
                          <a:solidFill>
                            <a:srgbClr val="000000"/>
                          </a:solidFill>
                          <a:latin typeface="Retropix" panose="020B0604020202020204" charset="0"/>
                          <a:ea typeface="Open Sans"/>
                          <a:cs typeface="Open Sans"/>
                          <a:sym typeface="Open Sans"/>
                        </a:rPr>
                        <a:t>calibre</a:t>
                      </a:r>
                      <a:r>
                        <a:rPr lang="en-US" sz="2000" kern="1200" dirty="0">
                          <a:solidFill>
                            <a:srgbClr val="000000"/>
                          </a:solidFill>
                          <a:latin typeface="Retropix" panose="020B0604020202020204" charset="0"/>
                          <a:ea typeface="Open Sans"/>
                          <a:cs typeface="Open Sans"/>
                          <a:sym typeface="Open Sans"/>
                        </a:rPr>
                        <a:t>-web</a:t>
                      </a:r>
                      <a:endParaRPr lang="en-US" sz="20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3919"/>
                        </a:lnSpc>
                        <a:defRPr/>
                      </a:pPr>
                      <a:r>
                        <a:rPr lang="en-US" sz="2000" kern="1200" dirty="0" err="1">
                          <a:solidFill>
                            <a:srgbClr val="000000"/>
                          </a:solidFill>
                          <a:latin typeface="Retropix" panose="020B0604020202020204" charset="0"/>
                          <a:ea typeface="Open Sans"/>
                          <a:cs typeface="Open Sans"/>
                          <a:sym typeface="Arimo"/>
                        </a:rPr>
                        <a:t>Desplegar</a:t>
                      </a:r>
                      <a:r>
                        <a:rPr lang="en-US" sz="2000" kern="1200" dirty="0">
                          <a:solidFill>
                            <a:srgbClr val="000000"/>
                          </a:solidFill>
                          <a:latin typeface="Retropix" panose="020B0604020202020204" charset="0"/>
                          <a:ea typeface="Open Sans"/>
                          <a:cs typeface="Open Sans"/>
                          <a:sym typeface="Arimo"/>
                        </a:rPr>
                        <a:t> la app </a:t>
                      </a:r>
                      <a:r>
                        <a:rPr lang="en-US" sz="2000" kern="1200" dirty="0" err="1">
                          <a:solidFill>
                            <a:srgbClr val="000000"/>
                          </a:solidFill>
                          <a:latin typeface="Retropix" panose="020B0604020202020204" charset="0"/>
                          <a:ea typeface="Open Sans"/>
                          <a:cs typeface="Open Sans"/>
                          <a:sym typeface="Arimo"/>
                        </a:rPr>
                        <a:t>limitando</a:t>
                      </a:r>
                      <a:r>
                        <a:rPr lang="en-US" sz="2000" kern="1200" dirty="0">
                          <a:solidFill>
                            <a:srgbClr val="000000"/>
                          </a:solidFill>
                          <a:latin typeface="Retropix" panose="020B0604020202020204" charset="0"/>
                          <a:ea typeface="Open Sans"/>
                          <a:cs typeface="Open Sans"/>
                          <a:sym typeface="Arimo"/>
                        </a:rPr>
                        <a:t> el </a:t>
                      </a:r>
                      <a:r>
                        <a:rPr lang="en-US" sz="2000" kern="1200" dirty="0" err="1">
                          <a:solidFill>
                            <a:srgbClr val="000000"/>
                          </a:solidFill>
                          <a:latin typeface="Retropix" panose="020B0604020202020204" charset="0"/>
                          <a:ea typeface="Open Sans"/>
                          <a:cs typeface="Open Sans"/>
                          <a:sym typeface="Arimo"/>
                        </a:rPr>
                        <a:t>uso</a:t>
                      </a:r>
                      <a:r>
                        <a:rPr lang="en-US" sz="2000" kern="1200" dirty="0">
                          <a:solidFill>
                            <a:srgbClr val="000000"/>
                          </a:solidFill>
                          <a:latin typeface="Retropix" panose="020B0604020202020204" charset="0"/>
                          <a:ea typeface="Open Sans"/>
                          <a:cs typeface="Open Sans"/>
                          <a:sym typeface="Arimo"/>
                        </a:rPr>
                        <a:t> a 0.5 CPUs y 512MB de RAM </a:t>
                      </a:r>
                      <a:r>
                        <a:rPr lang="en-US" sz="2000" kern="1200" dirty="0" err="1">
                          <a:solidFill>
                            <a:srgbClr val="000000"/>
                          </a:solidFill>
                          <a:latin typeface="Retropix" panose="020B0604020202020204" charset="0"/>
                          <a:ea typeface="Open Sans"/>
                          <a:cs typeface="Open Sans"/>
                          <a:sym typeface="Arimo"/>
                        </a:rPr>
                        <a:t>usando</a:t>
                      </a:r>
                      <a:r>
                        <a:rPr lang="en-US" sz="2000" kern="1200" dirty="0">
                          <a:solidFill>
                            <a:srgbClr val="000000"/>
                          </a:solidFill>
                          <a:latin typeface="Retropix" panose="020B0604020202020204" charset="0"/>
                          <a:ea typeface="Open Sans"/>
                          <a:cs typeface="Open Sans"/>
                          <a:sym typeface="Arimo"/>
                        </a:rPr>
                        <a:t> </a:t>
                      </a:r>
                      <a:r>
                        <a:rPr lang="en-US" sz="2000" kern="1200" dirty="0" err="1">
                          <a:solidFill>
                            <a:srgbClr val="000000"/>
                          </a:solidFill>
                          <a:latin typeface="Retropix" panose="020B0604020202020204" charset="0"/>
                          <a:ea typeface="Open Sans"/>
                          <a:cs typeface="Open Sans"/>
                          <a:sym typeface="Arimo Italics"/>
                        </a:rPr>
                        <a:t>cgroups</a:t>
                      </a:r>
                      <a:r>
                        <a:rPr lang="en-US" sz="2000" kern="1200" dirty="0">
                          <a:solidFill>
                            <a:srgbClr val="000000"/>
                          </a:solidFill>
                          <a:latin typeface="Retropix" panose="020B0604020202020204" charset="0"/>
                          <a:ea typeface="Open Sans"/>
                          <a:cs typeface="Open Sans"/>
                          <a:sym typeface="Arimo"/>
                        </a:rPr>
                        <a:t>.</a:t>
                      </a:r>
                      <a:endParaRPr lang="en-US" sz="2000" kern="1200" dirty="0">
                        <a:solidFill>
                          <a:srgbClr val="000000"/>
                        </a:solidFill>
                        <a:latin typeface="Retropix" panose="020B0604020202020204" charset="0"/>
                        <a:ea typeface="Open Sans"/>
                        <a:cs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sp>
        <p:nvSpPr>
          <p:cNvPr id="2" name="Freeform 2" descr="a pixelated folder"/>
          <p:cNvSpPr/>
          <p:nvPr/>
        </p:nvSpPr>
        <p:spPr>
          <a:xfrm>
            <a:off x="16772257" y="655891"/>
            <a:ext cx="974085" cy="745618"/>
          </a:xfrm>
          <a:custGeom>
            <a:avLst/>
            <a:gdLst/>
            <a:ahLst/>
            <a:cxnLst/>
            <a:rect l="l" t="t" r="r" b="b"/>
            <a:pathLst>
              <a:path w="974085" h="745618">
                <a:moveTo>
                  <a:pt x="0" y="0"/>
                </a:moveTo>
                <a:lnTo>
                  <a:pt x="974086" y="0"/>
                </a:lnTo>
                <a:lnTo>
                  <a:pt x="974086" y="745618"/>
                </a:lnTo>
                <a:lnTo>
                  <a:pt x="0" y="74561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grpSp>
        <p:nvGrpSpPr>
          <p:cNvPr id="3" name="Group 3"/>
          <p:cNvGrpSpPr/>
          <p:nvPr/>
        </p:nvGrpSpPr>
        <p:grpSpPr>
          <a:xfrm>
            <a:off x="0" y="9052698"/>
            <a:ext cx="18288000" cy="1234302"/>
            <a:chOff x="0" y="0"/>
            <a:chExt cx="4816593" cy="325084"/>
          </a:xfrm>
        </p:grpSpPr>
        <p:sp>
          <p:nvSpPr>
            <p:cNvPr id="4" name="Freeform 4">
              <a:extLst>
                <a:ext uri="{C183D7F6-B498-43B3-948B-1728B52AA6E4}">
                  <adec:decorative xmlns:adec="http://schemas.microsoft.com/office/drawing/2017/decorative" val="1"/>
                </a:ext>
              </a:extLst>
            </p:cNvPr>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txBody>
            <a:bodyPr/>
            <a:lstStyle/>
            <a:p>
              <a:endParaRPr lang="es-PE"/>
            </a:p>
          </p:txBody>
        </p:sp>
        <p:sp>
          <p:nvSpPr>
            <p:cNvPr id="5" name="TextBox 5"/>
            <p:cNvSpPr txBox="1"/>
            <p:nvPr/>
          </p:nvSpPr>
          <p:spPr>
            <a:xfrm>
              <a:off x="0" y="-38100"/>
              <a:ext cx="4816593" cy="363184"/>
            </a:xfrm>
            <a:prstGeom prst="rect">
              <a:avLst/>
            </a:prstGeom>
          </p:spPr>
          <p:txBody>
            <a:bodyPr lIns="254000" tIns="254000" rIns="254000" bIns="254000" rtlCol="0" anchor="ctr"/>
            <a:lstStyle/>
            <a:p>
              <a:pPr algn="l">
                <a:lnSpc>
                  <a:spcPts val="2100"/>
                </a:lnSpc>
              </a:pPr>
              <a:endParaRPr/>
            </a:p>
          </p:txBody>
        </p:sp>
      </p:grpSp>
      <p:grpSp>
        <p:nvGrpSpPr>
          <p:cNvPr id="6" name="Group 6"/>
          <p:cNvGrpSpPr/>
          <p:nvPr/>
        </p:nvGrpSpPr>
        <p:grpSpPr>
          <a:xfrm>
            <a:off x="237414" y="9267586"/>
            <a:ext cx="804526" cy="804526"/>
            <a:chOff x="0" y="0"/>
            <a:chExt cx="1072702" cy="1072702"/>
          </a:xfrm>
        </p:grpSpPr>
        <p:sp>
          <p:nvSpPr>
            <p:cNvPr id="7" name="Freeform 7"/>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8" name="Freeform 8"/>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grpSp>
      <p:sp>
        <p:nvSpPr>
          <p:cNvPr id="9" name="Freeform 9" descr="a pixelated image of a printer"/>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sp>
        <p:nvSpPr>
          <p:cNvPr id="10" name="Freeform 10" descr="a pixelated notepad"/>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1" name="Freeform 11" descr="an image of the earth in a pixel art style"/>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sp>
        <p:nvSpPr>
          <p:cNvPr id="12" name="Freeform 12" descr="a pixelated image of a dice"/>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sp>
        <p:nvSpPr>
          <p:cNvPr id="13" name="Freeform 13" descr="a pixelated image of newspaper"/>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sp>
        <p:nvSpPr>
          <p:cNvPr id="14" name="Freeform 14">
            <a:extLst>
              <a:ext uri="{C183D7F6-B498-43B3-948B-1728B52AA6E4}">
                <adec:decorative xmlns:adec="http://schemas.microsoft.com/office/drawing/2017/decorative" val="1"/>
              </a:ext>
            </a:extLst>
          </p:cNvPr>
          <p:cNvSpPr/>
          <p:nvPr/>
        </p:nvSpPr>
        <p:spPr>
          <a:xfrm>
            <a:off x="0" y="-40631"/>
            <a:ext cx="18186658" cy="9093329"/>
          </a:xfrm>
          <a:custGeom>
            <a:avLst/>
            <a:gdLst/>
            <a:ahLst/>
            <a:cxnLst/>
            <a:rect l="l" t="t" r="r" b="b"/>
            <a:pathLst>
              <a:path w="18186658" h="9093329">
                <a:moveTo>
                  <a:pt x="0" y="0"/>
                </a:moveTo>
                <a:lnTo>
                  <a:pt x="18186658" y="0"/>
                </a:lnTo>
                <a:lnTo>
                  <a:pt x="18186658" y="9093329"/>
                </a:lnTo>
                <a:lnTo>
                  <a:pt x="0" y="9093329"/>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sp>
        <p:nvSpPr>
          <p:cNvPr id="15" name="TextBox 15"/>
          <p:cNvSpPr txBox="1"/>
          <p:nvPr/>
        </p:nvSpPr>
        <p:spPr>
          <a:xfrm>
            <a:off x="443499" y="311571"/>
            <a:ext cx="15743557" cy="798831"/>
          </a:xfrm>
          <a:prstGeom prst="rect">
            <a:avLst/>
          </a:prstGeom>
        </p:spPr>
        <p:txBody>
          <a:bodyPr lIns="0" tIns="0" rIns="0" bIns="0" rtlCol="0" anchor="t">
            <a:spAutoFit/>
          </a:bodyPr>
          <a:lstStyle/>
          <a:p>
            <a:pPr algn="l">
              <a:lnSpc>
                <a:spcPts val="5200"/>
              </a:lnSpc>
            </a:pPr>
            <a:r>
              <a:rPr lang="en-US" sz="5200">
                <a:solidFill>
                  <a:srgbClr val="FFFFFF"/>
                </a:solidFill>
                <a:latin typeface="Retropix"/>
                <a:ea typeface="Retropix"/>
                <a:cs typeface="Retropix"/>
                <a:sym typeface="Retropix"/>
              </a:rPr>
              <a:t>Estrategias de carga y automizacion de la carga</a:t>
            </a:r>
          </a:p>
        </p:txBody>
      </p:sp>
      <p:grpSp>
        <p:nvGrpSpPr>
          <p:cNvPr id="16" name="Group 16"/>
          <p:cNvGrpSpPr/>
          <p:nvPr/>
        </p:nvGrpSpPr>
        <p:grpSpPr>
          <a:xfrm>
            <a:off x="15109868" y="9297158"/>
            <a:ext cx="2801811" cy="712035"/>
            <a:chOff x="0" y="0"/>
            <a:chExt cx="737925" cy="187532"/>
          </a:xfrm>
        </p:grpSpPr>
        <p:sp>
          <p:nvSpPr>
            <p:cNvPr id="17" name="Freeform 17">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18" name="TextBox 18"/>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11" action="ppaction://hlinksldjump"/>
                </a:rPr>
                <a:t>Back to Agenda Page</a:t>
              </a:r>
            </a:p>
          </p:txBody>
        </p:sp>
      </p:grpSp>
      <p:grpSp>
        <p:nvGrpSpPr>
          <p:cNvPr id="19" name="Group 19"/>
          <p:cNvGrpSpPr/>
          <p:nvPr/>
        </p:nvGrpSpPr>
        <p:grpSpPr>
          <a:xfrm>
            <a:off x="-253799" y="321096"/>
            <a:ext cx="14994661" cy="8105034"/>
            <a:chOff x="0" y="0"/>
            <a:chExt cx="19992882" cy="10806712"/>
          </a:xfrm>
        </p:grpSpPr>
        <p:sp>
          <p:nvSpPr>
            <p:cNvPr id="20" name="TextBox 20"/>
            <p:cNvSpPr txBox="1"/>
            <p:nvPr/>
          </p:nvSpPr>
          <p:spPr>
            <a:xfrm>
              <a:off x="6214274" y="2101125"/>
              <a:ext cx="13778608" cy="8705587"/>
            </a:xfrm>
            <a:prstGeom prst="rect">
              <a:avLst/>
            </a:prstGeom>
          </p:spPr>
          <p:txBody>
            <a:bodyPr lIns="0" tIns="0" rIns="0" bIns="0" rtlCol="0" anchor="t">
              <a:spAutoFit/>
            </a:bodyPr>
            <a:lstStyle/>
            <a:p>
              <a:pPr algn="ctr">
                <a:lnSpc>
                  <a:spcPts val="4342"/>
                </a:lnSpc>
              </a:pPr>
              <a:r>
                <a:rPr lang="en-US" sz="3101">
                  <a:solidFill>
                    <a:srgbClr val="000000"/>
                  </a:solidFill>
                  <a:latin typeface="Retropix"/>
                  <a:ea typeface="Retropix"/>
                  <a:cs typeface="Retropix"/>
                  <a:sym typeface="Retropix"/>
                </a:rPr>
                <a:t>El proyecto busca evaluar la resiliencia del Subsistema de Almacenamiento Virtual (VFS) de Linux en escenarios de alta densidad de datos. Se diseñará una prueba de estrés centrada en forzar la tabla de metadatos del sistema de archivos, utilizando un script automatizado en Bash para crear masivamente estructuras jerárquicas de directorios. Se abordarán dos impactos lógicos: el procesamiento en ráfaga mediante la escritura masiva de archivos pequeños, y la saturación controlada mediante la generación masiva de descriptores de archivos en contenedores compartidos. </a:t>
              </a:r>
            </a:p>
          </p:txBody>
        </p:sp>
        <p:sp>
          <p:nvSpPr>
            <p:cNvPr id="21" name="TextBox 21"/>
            <p:cNvSpPr txBox="1"/>
            <p:nvPr/>
          </p:nvSpPr>
          <p:spPr>
            <a:xfrm>
              <a:off x="0" y="-95250"/>
              <a:ext cx="1258962" cy="1069560"/>
            </a:xfrm>
            <a:prstGeom prst="rect">
              <a:avLst/>
            </a:prstGeom>
          </p:spPr>
          <p:txBody>
            <a:bodyPr lIns="0" tIns="0" rIns="0" bIns="0" rtlCol="0" anchor="t">
              <a:spAutoFit/>
            </a:bodyPr>
            <a:lstStyle/>
            <a:p>
              <a:pPr marL="0" lvl="0" indent="0" algn="ctr">
                <a:lnSpc>
                  <a:spcPts val="5776"/>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249582" y="397890"/>
            <a:ext cx="18186658" cy="9093329"/>
          </a:xfrm>
          <a:custGeom>
            <a:avLst/>
            <a:gdLst/>
            <a:ahLst/>
            <a:cxnLst/>
            <a:rect l="l" t="t" r="r" b="b"/>
            <a:pathLst>
              <a:path w="18186658" h="9093329">
                <a:moveTo>
                  <a:pt x="0" y="0"/>
                </a:moveTo>
                <a:lnTo>
                  <a:pt x="18186658" y="0"/>
                </a:lnTo>
                <a:lnTo>
                  <a:pt x="18186658" y="9093329"/>
                </a:lnTo>
                <a:lnTo>
                  <a:pt x="0" y="90933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PE"/>
          </a:p>
        </p:txBody>
      </p:sp>
      <p:grpSp>
        <p:nvGrpSpPr>
          <p:cNvPr id="3" name="Group 3"/>
          <p:cNvGrpSpPr/>
          <p:nvPr/>
        </p:nvGrpSpPr>
        <p:grpSpPr>
          <a:xfrm>
            <a:off x="-2456685" y="0"/>
            <a:ext cx="23466005" cy="795781"/>
            <a:chOff x="0" y="0"/>
            <a:chExt cx="31288006" cy="1061041"/>
          </a:xfrm>
        </p:grpSpPr>
        <p:grpSp>
          <p:nvGrpSpPr>
            <p:cNvPr id="4" name="Group 4"/>
            <p:cNvGrpSpPr/>
            <p:nvPr/>
          </p:nvGrpSpPr>
          <p:grpSpPr>
            <a:xfrm>
              <a:off x="0" y="0"/>
              <a:ext cx="31288006" cy="1061041"/>
              <a:chOff x="0" y="0"/>
              <a:chExt cx="6180347" cy="209588"/>
            </a:xfrm>
          </p:grpSpPr>
          <p:sp>
            <p:nvSpPr>
              <p:cNvPr id="5" name="Freeform 5"/>
              <p:cNvSpPr/>
              <p:nvPr/>
            </p:nvSpPr>
            <p:spPr>
              <a:xfrm>
                <a:off x="0" y="0"/>
                <a:ext cx="6180347" cy="209588"/>
              </a:xfrm>
              <a:custGeom>
                <a:avLst/>
                <a:gdLst/>
                <a:ahLst/>
                <a:cxnLst/>
                <a:rect l="l" t="t" r="r" b="b"/>
                <a:pathLst>
                  <a:path w="6180347" h="209588">
                    <a:moveTo>
                      <a:pt x="0" y="0"/>
                    </a:moveTo>
                    <a:lnTo>
                      <a:pt x="6180347" y="0"/>
                    </a:lnTo>
                    <a:lnTo>
                      <a:pt x="6180347" y="209588"/>
                    </a:lnTo>
                    <a:lnTo>
                      <a:pt x="0" y="209588"/>
                    </a:lnTo>
                    <a:close/>
                  </a:path>
                </a:pathLst>
              </a:custGeom>
              <a:solidFill>
                <a:srgbClr val="067A7B"/>
              </a:solidFill>
              <a:ln w="95250" cap="sq">
                <a:solidFill>
                  <a:srgbClr val="067A7B"/>
                </a:solidFill>
                <a:prstDash val="solid"/>
                <a:miter/>
              </a:ln>
            </p:spPr>
            <p:txBody>
              <a:bodyPr/>
              <a:lstStyle/>
              <a:p>
                <a:endParaRPr lang="es-PE"/>
              </a:p>
            </p:txBody>
          </p:sp>
          <p:sp>
            <p:nvSpPr>
              <p:cNvPr id="6" name="TextBox 6"/>
              <p:cNvSpPr txBox="1"/>
              <p:nvPr/>
            </p:nvSpPr>
            <p:spPr>
              <a:xfrm>
                <a:off x="0" y="-57150"/>
                <a:ext cx="6180347" cy="266738"/>
              </a:xfrm>
              <a:prstGeom prst="rect">
                <a:avLst/>
              </a:prstGeom>
            </p:spPr>
            <p:txBody>
              <a:bodyPr lIns="254000" tIns="254000" rIns="254000" bIns="254000" rtlCol="0" anchor="ctr"/>
              <a:lstStyle/>
              <a:p>
                <a:pPr algn="l">
                  <a:lnSpc>
                    <a:spcPts val="3499"/>
                  </a:lnSpc>
                </a:pPr>
                <a:endParaRPr/>
              </a:p>
            </p:txBody>
          </p:sp>
        </p:grpSp>
        <p:sp>
          <p:nvSpPr>
            <p:cNvPr id="7" name="TextBox 7"/>
            <p:cNvSpPr txBox="1"/>
            <p:nvPr/>
          </p:nvSpPr>
          <p:spPr>
            <a:xfrm>
              <a:off x="493425" y="269112"/>
              <a:ext cx="30301156" cy="513292"/>
            </a:xfrm>
            <a:prstGeom prst="rect">
              <a:avLst/>
            </a:prstGeom>
          </p:spPr>
          <p:txBody>
            <a:bodyPr lIns="0" tIns="0" rIns="0" bIns="0" rtlCol="0" anchor="t">
              <a:spAutoFit/>
            </a:bodyPr>
            <a:lstStyle/>
            <a:p>
              <a:pPr algn="ctr">
                <a:lnSpc>
                  <a:spcPts val="2499"/>
                </a:lnSpc>
              </a:pPr>
              <a:r>
                <a:rPr lang="en-US" sz="2499">
                  <a:solidFill>
                    <a:srgbClr val="FFFFFF"/>
                  </a:solidFill>
                  <a:latin typeface="Retropix"/>
                  <a:ea typeface="Retropix"/>
                  <a:cs typeface="Retropix"/>
                  <a:sym typeface="Retropix"/>
                </a:rPr>
                <a:t>Elaborate on the featured statistic • Elaborate on the featured statistic • Elaborate on the featured statistic • Elaborate on the featured statistic </a:t>
              </a:r>
            </a:p>
          </p:txBody>
        </p:sp>
      </p:grpSp>
      <p:sp>
        <p:nvSpPr>
          <p:cNvPr id="8" name="TextBox 8"/>
          <p:cNvSpPr txBox="1"/>
          <p:nvPr/>
        </p:nvSpPr>
        <p:spPr>
          <a:xfrm>
            <a:off x="-472915" y="1009650"/>
            <a:ext cx="18620865" cy="774701"/>
          </a:xfrm>
          <a:prstGeom prst="rect">
            <a:avLst/>
          </a:prstGeom>
        </p:spPr>
        <p:txBody>
          <a:bodyPr lIns="0" tIns="0" rIns="0" bIns="0" rtlCol="0" anchor="t">
            <a:spAutoFit/>
          </a:bodyPr>
          <a:lstStyle/>
          <a:p>
            <a:pPr algn="ctr">
              <a:lnSpc>
                <a:spcPts val="5000"/>
              </a:lnSpc>
            </a:pPr>
            <a:r>
              <a:rPr lang="en-US" sz="5000">
                <a:solidFill>
                  <a:srgbClr val="000000"/>
                </a:solidFill>
                <a:latin typeface="Retropix"/>
                <a:ea typeface="Retropix"/>
                <a:cs typeface="Retropix"/>
                <a:sym typeface="Retropix"/>
              </a:rPr>
              <a:t>Instrumentación y Experimentos (La evidencia de SO)</a:t>
            </a:r>
          </a:p>
        </p:txBody>
      </p:sp>
      <p:grpSp>
        <p:nvGrpSpPr>
          <p:cNvPr id="9" name="Group 9"/>
          <p:cNvGrpSpPr/>
          <p:nvPr/>
        </p:nvGrpSpPr>
        <p:grpSpPr>
          <a:xfrm>
            <a:off x="-2589002" y="9491219"/>
            <a:ext cx="23466005" cy="795781"/>
            <a:chOff x="0" y="0"/>
            <a:chExt cx="31288006" cy="1061041"/>
          </a:xfrm>
        </p:grpSpPr>
        <p:grpSp>
          <p:nvGrpSpPr>
            <p:cNvPr id="10" name="Group 10"/>
            <p:cNvGrpSpPr/>
            <p:nvPr/>
          </p:nvGrpSpPr>
          <p:grpSpPr>
            <a:xfrm>
              <a:off x="0" y="0"/>
              <a:ext cx="31288006" cy="1061041"/>
              <a:chOff x="0" y="0"/>
              <a:chExt cx="6180347" cy="209588"/>
            </a:xfrm>
          </p:grpSpPr>
          <p:sp>
            <p:nvSpPr>
              <p:cNvPr id="11" name="Freeform 11"/>
              <p:cNvSpPr/>
              <p:nvPr/>
            </p:nvSpPr>
            <p:spPr>
              <a:xfrm>
                <a:off x="0" y="0"/>
                <a:ext cx="6180347" cy="209588"/>
              </a:xfrm>
              <a:custGeom>
                <a:avLst/>
                <a:gdLst/>
                <a:ahLst/>
                <a:cxnLst/>
                <a:rect l="l" t="t" r="r" b="b"/>
                <a:pathLst>
                  <a:path w="6180347" h="209588">
                    <a:moveTo>
                      <a:pt x="0" y="0"/>
                    </a:moveTo>
                    <a:lnTo>
                      <a:pt x="6180347" y="0"/>
                    </a:lnTo>
                    <a:lnTo>
                      <a:pt x="6180347" y="209588"/>
                    </a:lnTo>
                    <a:lnTo>
                      <a:pt x="0" y="209588"/>
                    </a:lnTo>
                    <a:close/>
                  </a:path>
                </a:pathLst>
              </a:custGeom>
              <a:solidFill>
                <a:srgbClr val="067A7B"/>
              </a:solidFill>
              <a:ln w="95250" cap="sq">
                <a:solidFill>
                  <a:srgbClr val="067A7B"/>
                </a:solidFill>
                <a:prstDash val="solid"/>
                <a:miter/>
              </a:ln>
            </p:spPr>
            <p:txBody>
              <a:bodyPr/>
              <a:lstStyle/>
              <a:p>
                <a:endParaRPr lang="es-PE"/>
              </a:p>
            </p:txBody>
          </p:sp>
          <p:sp>
            <p:nvSpPr>
              <p:cNvPr id="12" name="TextBox 12"/>
              <p:cNvSpPr txBox="1"/>
              <p:nvPr/>
            </p:nvSpPr>
            <p:spPr>
              <a:xfrm>
                <a:off x="0" y="-57150"/>
                <a:ext cx="6180347" cy="266738"/>
              </a:xfrm>
              <a:prstGeom prst="rect">
                <a:avLst/>
              </a:prstGeom>
            </p:spPr>
            <p:txBody>
              <a:bodyPr lIns="254000" tIns="254000" rIns="254000" bIns="254000" rtlCol="0" anchor="ctr"/>
              <a:lstStyle/>
              <a:p>
                <a:pPr algn="l">
                  <a:lnSpc>
                    <a:spcPts val="3499"/>
                  </a:lnSpc>
                </a:pPr>
                <a:endParaRPr/>
              </a:p>
            </p:txBody>
          </p:sp>
        </p:grpSp>
        <p:sp>
          <p:nvSpPr>
            <p:cNvPr id="13" name="TextBox 13"/>
            <p:cNvSpPr txBox="1"/>
            <p:nvPr/>
          </p:nvSpPr>
          <p:spPr>
            <a:xfrm>
              <a:off x="493425" y="269112"/>
              <a:ext cx="30301156" cy="513292"/>
            </a:xfrm>
            <a:prstGeom prst="rect">
              <a:avLst/>
            </a:prstGeom>
          </p:spPr>
          <p:txBody>
            <a:bodyPr lIns="0" tIns="0" rIns="0" bIns="0" rtlCol="0" anchor="t">
              <a:spAutoFit/>
            </a:bodyPr>
            <a:lstStyle/>
            <a:p>
              <a:pPr algn="ctr">
                <a:lnSpc>
                  <a:spcPts val="2499"/>
                </a:lnSpc>
              </a:pPr>
              <a:r>
                <a:rPr lang="en-US" sz="2499">
                  <a:solidFill>
                    <a:srgbClr val="FFFFFF"/>
                  </a:solidFill>
                  <a:latin typeface="Retropix"/>
                  <a:ea typeface="Retropix"/>
                  <a:cs typeface="Retropix"/>
                  <a:sym typeface="Retropix"/>
                </a:rPr>
                <a:t>Elaborate on the featured statistic • Elaborate on the featured statistic • Elaborate on the featured statistic • Elaborate on the featured statistic </a:t>
              </a:r>
            </a:p>
          </p:txBody>
        </p:sp>
      </p:grpSp>
      <p:sp>
        <p:nvSpPr>
          <p:cNvPr id="14" name="Freeform 14" descr="cursor"/>
          <p:cNvSpPr/>
          <p:nvPr/>
        </p:nvSpPr>
        <p:spPr>
          <a:xfrm>
            <a:off x="10812971" y="5586691"/>
            <a:ext cx="484735" cy="825401"/>
          </a:xfrm>
          <a:custGeom>
            <a:avLst/>
            <a:gdLst/>
            <a:ahLst/>
            <a:cxnLst/>
            <a:rect l="l" t="t" r="r" b="b"/>
            <a:pathLst>
              <a:path w="484735" h="825401">
                <a:moveTo>
                  <a:pt x="0" y="0"/>
                </a:moveTo>
                <a:lnTo>
                  <a:pt x="484735" y="0"/>
                </a:lnTo>
                <a:lnTo>
                  <a:pt x="484735" y="825401"/>
                </a:lnTo>
                <a:lnTo>
                  <a:pt x="0" y="825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15" name="TextBox 15"/>
          <p:cNvSpPr txBox="1"/>
          <p:nvPr/>
        </p:nvSpPr>
        <p:spPr>
          <a:xfrm>
            <a:off x="619183" y="2420621"/>
            <a:ext cx="17206669" cy="6837679"/>
          </a:xfrm>
          <a:prstGeom prst="rect">
            <a:avLst/>
          </a:prstGeom>
        </p:spPr>
        <p:txBody>
          <a:bodyPr lIns="0" tIns="0" rIns="0" bIns="0" rtlCol="0" anchor="t">
            <a:spAutoFit/>
          </a:bodyPr>
          <a:lstStyle/>
          <a:p>
            <a:pPr marL="496575" lvl="1" indent="-248288" algn="l">
              <a:lnSpc>
                <a:spcPts val="3220"/>
              </a:lnSpc>
              <a:buFont typeface="Arial"/>
              <a:buChar char="•"/>
            </a:pPr>
            <a:r>
              <a:rPr lang="en-US" sz="2300">
                <a:solidFill>
                  <a:srgbClr val="000000"/>
                </a:solidFill>
                <a:latin typeface="Retropix"/>
                <a:ea typeface="Retropix"/>
                <a:cs typeface="Retropix"/>
                <a:sym typeface="Retropix"/>
              </a:rPr>
              <a:t>Auditoría de Inodos y Estructura Lógica:</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Herramientas: df -i y ls -i.</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Propósito: Monitoreo del agotamiento de descriptores de archivos en la tabla de inodos de la partición /dev/root y rastreo de identificadores únicos por objeto.</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Análisis de Metadatos y Control de Acceso:</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Herramienta: stat.</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Propósito: Inspección de los bloques de E/S (IO Block), enlaces físicos y la persistencia de las marcas de tiempo administradas por el Kernel (Access, Modify, Change).</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Diagnóstico de Fragmentación Física:</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Herramienta: filefrag -v.</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Propósito: Evaluación de la contigüidad de los datos en el disco ext4. Identificación de extents (fragmentos físicos) para validar la eficiencia de la escritura secuencial.</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Telemetría de Recursos en Tiempo Real:</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Herramienta: podman stats.</a:t>
            </a:r>
          </a:p>
          <a:p>
            <a:pPr marL="496575" lvl="1" indent="-248288" algn="l">
              <a:lnSpc>
                <a:spcPts val="3220"/>
              </a:lnSpc>
              <a:buFont typeface="Arial"/>
              <a:buChar char="•"/>
            </a:pPr>
            <a:r>
              <a:rPr lang="en-US" sz="2300">
                <a:solidFill>
                  <a:srgbClr val="000000"/>
                </a:solidFill>
                <a:latin typeface="Retropix"/>
                <a:ea typeface="Retropix"/>
                <a:cs typeface="Retropix"/>
                <a:sym typeface="Retropix"/>
              </a:rPr>
              <a:t>Propósito: Supervisión del aislamiento dinámico mediante cgroups, verificando el cumplimiento de los límites de Memoria RAM, CPU y operaciones de E/S de bloque.</a:t>
            </a:r>
          </a:p>
          <a:p>
            <a:pPr algn="l">
              <a:lnSpc>
                <a:spcPts val="3220"/>
              </a:lnSpc>
            </a:pPr>
            <a:endParaRPr lang="en-US" sz="2300">
              <a:solidFill>
                <a:srgbClr val="000000"/>
              </a:solidFill>
              <a:latin typeface="Retropix"/>
              <a:ea typeface="Retropix"/>
              <a:cs typeface="Retropix"/>
              <a:sym typeface="Retropix"/>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818B7"/>
        </a:solidFill>
        <a:effectLst/>
      </p:bgPr>
    </p:bg>
    <p:spTree>
      <p:nvGrpSpPr>
        <p:cNvPr id="1" name=""/>
        <p:cNvGrpSpPr/>
        <p:nvPr/>
      </p:nvGrpSpPr>
      <p:grpSpPr>
        <a:xfrm>
          <a:off x="0" y="0"/>
          <a:ext cx="0" cy="0"/>
          <a:chOff x="0" y="0"/>
          <a:chExt cx="0" cy="0"/>
        </a:xfrm>
      </p:grpSpPr>
      <p:grpSp>
        <p:nvGrpSpPr>
          <p:cNvPr id="2" name="Group 2"/>
          <p:cNvGrpSpPr/>
          <p:nvPr/>
        </p:nvGrpSpPr>
        <p:grpSpPr>
          <a:xfrm>
            <a:off x="452403" y="368394"/>
            <a:ext cx="17383194" cy="9550212"/>
            <a:chOff x="0" y="0"/>
            <a:chExt cx="4578290" cy="2515282"/>
          </a:xfrm>
        </p:grpSpPr>
        <p:sp>
          <p:nvSpPr>
            <p:cNvPr id="3" name="Freeform 3">
              <a:extLst>
                <a:ext uri="{C183D7F6-B498-43B3-948B-1728B52AA6E4}">
                  <adec:decorative xmlns:adec="http://schemas.microsoft.com/office/drawing/2017/decorative" val="1"/>
                </a:ext>
              </a:extLst>
            </p:cNvPr>
            <p:cNvSpPr/>
            <p:nvPr/>
          </p:nvSpPr>
          <p:spPr>
            <a:xfrm>
              <a:off x="0" y="0"/>
              <a:ext cx="4578290" cy="2515282"/>
            </a:xfrm>
            <a:custGeom>
              <a:avLst/>
              <a:gdLst/>
              <a:ahLst/>
              <a:cxnLst/>
              <a:rect l="l" t="t" r="r" b="b"/>
              <a:pathLst>
                <a:path w="4578290" h="2515282">
                  <a:moveTo>
                    <a:pt x="0" y="0"/>
                  </a:moveTo>
                  <a:lnTo>
                    <a:pt x="4578290" y="0"/>
                  </a:lnTo>
                  <a:lnTo>
                    <a:pt x="4578290" y="2515282"/>
                  </a:lnTo>
                  <a:lnTo>
                    <a:pt x="0" y="2515282"/>
                  </a:lnTo>
                  <a:close/>
                </a:path>
              </a:pathLst>
            </a:custGeom>
            <a:solidFill>
              <a:srgbClr val="CCCCCC"/>
            </a:solidFill>
            <a:ln w="95250" cap="sq">
              <a:solidFill>
                <a:srgbClr val="1818B7"/>
              </a:solidFill>
              <a:prstDash val="sysDot"/>
              <a:miter/>
            </a:ln>
          </p:spPr>
          <p:txBody>
            <a:bodyPr/>
            <a:lstStyle/>
            <a:p>
              <a:endParaRPr lang="es-PE"/>
            </a:p>
          </p:txBody>
        </p:sp>
        <p:sp>
          <p:nvSpPr>
            <p:cNvPr id="4" name="TextBox 4"/>
            <p:cNvSpPr txBox="1"/>
            <p:nvPr/>
          </p:nvSpPr>
          <p:spPr>
            <a:xfrm>
              <a:off x="0" y="-38100"/>
              <a:ext cx="4578290" cy="2553382"/>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028700" y="8546265"/>
            <a:ext cx="2801811" cy="712035"/>
            <a:chOff x="0" y="0"/>
            <a:chExt cx="737925" cy="187532"/>
          </a:xfrm>
        </p:grpSpPr>
        <p:sp>
          <p:nvSpPr>
            <p:cNvPr id="6" name="Freeform 6">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FFFFFF"/>
            </a:solidFill>
            <a:ln w="28575" cap="sq">
              <a:solidFill>
                <a:srgbClr val="000000"/>
              </a:solidFill>
              <a:prstDash val="solid"/>
              <a:miter/>
            </a:ln>
          </p:spPr>
          <p:txBody>
            <a:bodyPr/>
            <a:lstStyle/>
            <a:p>
              <a:endParaRPr lang="es-PE"/>
            </a:p>
          </p:txBody>
        </p:sp>
        <p:sp>
          <p:nvSpPr>
            <p:cNvPr id="7" name="TextBox 7"/>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2" action="ppaction://hlinksldjump"/>
                </a:rPr>
                <a:t>Back to Agenda Page</a:t>
              </a:r>
            </a:p>
          </p:txBody>
        </p:sp>
      </p:grpSp>
      <p:sp>
        <p:nvSpPr>
          <p:cNvPr id="8" name="Freeform 8" descr="old tech warning sign"/>
          <p:cNvSpPr/>
          <p:nvPr/>
        </p:nvSpPr>
        <p:spPr>
          <a:xfrm>
            <a:off x="1028700" y="666537"/>
            <a:ext cx="724326" cy="724326"/>
          </a:xfrm>
          <a:custGeom>
            <a:avLst/>
            <a:gdLst/>
            <a:ahLst/>
            <a:cxnLst/>
            <a:rect l="l" t="t" r="r" b="b"/>
            <a:pathLst>
              <a:path w="724326" h="724326">
                <a:moveTo>
                  <a:pt x="0" y="0"/>
                </a:moveTo>
                <a:lnTo>
                  <a:pt x="724326" y="0"/>
                </a:lnTo>
                <a:lnTo>
                  <a:pt x="724326" y="724326"/>
                </a:lnTo>
                <a:lnTo>
                  <a:pt x="0" y="7243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9" name="Freeform 9">
            <a:extLst>
              <a:ext uri="{C183D7F6-B498-43B3-948B-1728B52AA6E4}">
                <adec:decorative xmlns:adec="http://schemas.microsoft.com/office/drawing/2017/decorative" val="1"/>
              </a:ext>
            </a:extLst>
          </p:cNvPr>
          <p:cNvSpPr/>
          <p:nvPr/>
        </p:nvSpPr>
        <p:spPr>
          <a:xfrm>
            <a:off x="16513271" y="666537"/>
            <a:ext cx="746029" cy="724326"/>
          </a:xfrm>
          <a:custGeom>
            <a:avLst/>
            <a:gdLst/>
            <a:ahLst/>
            <a:cxnLst/>
            <a:rect l="l" t="t" r="r" b="b"/>
            <a:pathLst>
              <a:path w="746029" h="724326">
                <a:moveTo>
                  <a:pt x="0" y="0"/>
                </a:moveTo>
                <a:lnTo>
                  <a:pt x="746029" y="0"/>
                </a:lnTo>
                <a:lnTo>
                  <a:pt x="746029" y="724326"/>
                </a:lnTo>
                <a:lnTo>
                  <a:pt x="0" y="7243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0" name="Freeform 10">
            <a:extLst>
              <a:ext uri="{C183D7F6-B498-43B3-948B-1728B52AA6E4}">
                <adec:decorative xmlns:adec="http://schemas.microsoft.com/office/drawing/2017/decorative" val="1"/>
              </a:ext>
            </a:extLst>
          </p:cNvPr>
          <p:cNvSpPr/>
          <p:nvPr/>
        </p:nvSpPr>
        <p:spPr>
          <a:xfrm>
            <a:off x="15665121" y="666537"/>
            <a:ext cx="724326" cy="724326"/>
          </a:xfrm>
          <a:custGeom>
            <a:avLst/>
            <a:gdLst/>
            <a:ahLst/>
            <a:cxnLst/>
            <a:rect l="l" t="t" r="r" b="b"/>
            <a:pathLst>
              <a:path w="724326" h="724326">
                <a:moveTo>
                  <a:pt x="0" y="0"/>
                </a:moveTo>
                <a:lnTo>
                  <a:pt x="724325" y="0"/>
                </a:lnTo>
                <a:lnTo>
                  <a:pt x="724325" y="724326"/>
                </a:lnTo>
                <a:lnTo>
                  <a:pt x="0" y="7243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sp>
        <p:nvSpPr>
          <p:cNvPr id="11" name="Freeform 11" descr="progress bar"/>
          <p:cNvSpPr/>
          <p:nvPr/>
        </p:nvSpPr>
        <p:spPr>
          <a:xfrm>
            <a:off x="10299510" y="917596"/>
            <a:ext cx="2527153" cy="473267"/>
          </a:xfrm>
          <a:custGeom>
            <a:avLst/>
            <a:gdLst/>
            <a:ahLst/>
            <a:cxnLst/>
            <a:rect l="l" t="t" r="r" b="b"/>
            <a:pathLst>
              <a:path w="2527153" h="473267">
                <a:moveTo>
                  <a:pt x="0" y="0"/>
                </a:moveTo>
                <a:lnTo>
                  <a:pt x="2527153" y="0"/>
                </a:lnTo>
                <a:lnTo>
                  <a:pt x="2527153" y="473267"/>
                </a:lnTo>
                <a:lnTo>
                  <a:pt x="0" y="47326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2" name="Freeform 12" descr="an image of a pixel hand pointing up"/>
          <p:cNvSpPr/>
          <p:nvPr/>
        </p:nvSpPr>
        <p:spPr>
          <a:xfrm rot="-1041959">
            <a:off x="3421154" y="5443961"/>
            <a:ext cx="535569" cy="706385"/>
          </a:xfrm>
          <a:custGeom>
            <a:avLst/>
            <a:gdLst/>
            <a:ahLst/>
            <a:cxnLst/>
            <a:rect l="l" t="t" r="r" b="b"/>
            <a:pathLst>
              <a:path w="535569" h="706385">
                <a:moveTo>
                  <a:pt x="0" y="0"/>
                </a:moveTo>
                <a:lnTo>
                  <a:pt x="535568" y="0"/>
                </a:lnTo>
                <a:lnTo>
                  <a:pt x="535568" y="706385"/>
                </a:lnTo>
                <a:lnTo>
                  <a:pt x="0" y="70638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sp>
        <p:nvSpPr>
          <p:cNvPr id="13" name="Freeform 13"/>
          <p:cNvSpPr/>
          <p:nvPr/>
        </p:nvSpPr>
        <p:spPr>
          <a:xfrm>
            <a:off x="1026501" y="1851134"/>
            <a:ext cx="7051355" cy="5670555"/>
          </a:xfrm>
          <a:custGeom>
            <a:avLst/>
            <a:gdLst/>
            <a:ahLst/>
            <a:cxnLst/>
            <a:rect l="l" t="t" r="r" b="b"/>
            <a:pathLst>
              <a:path w="7051355" h="5670555">
                <a:moveTo>
                  <a:pt x="0" y="0"/>
                </a:moveTo>
                <a:lnTo>
                  <a:pt x="7051355" y="0"/>
                </a:lnTo>
                <a:lnTo>
                  <a:pt x="7051355" y="5670555"/>
                </a:lnTo>
                <a:lnTo>
                  <a:pt x="0" y="5670555"/>
                </a:lnTo>
                <a:lnTo>
                  <a:pt x="0" y="0"/>
                </a:lnTo>
                <a:close/>
              </a:path>
            </a:pathLst>
          </a:custGeom>
          <a:blipFill>
            <a:blip r:embed="rId8"/>
            <a:stretch>
              <a:fillRect r="-80807"/>
            </a:stretch>
          </a:blipFill>
        </p:spPr>
        <p:txBody>
          <a:bodyPr/>
          <a:lstStyle/>
          <a:p>
            <a:endParaRPr lang="es-PE"/>
          </a:p>
        </p:txBody>
      </p:sp>
      <p:sp>
        <p:nvSpPr>
          <p:cNvPr id="14" name="Freeform 14"/>
          <p:cNvSpPr/>
          <p:nvPr/>
        </p:nvSpPr>
        <p:spPr>
          <a:xfrm>
            <a:off x="9668796" y="1851134"/>
            <a:ext cx="6844476" cy="5478555"/>
          </a:xfrm>
          <a:custGeom>
            <a:avLst/>
            <a:gdLst/>
            <a:ahLst/>
            <a:cxnLst/>
            <a:rect l="l" t="t" r="r" b="b"/>
            <a:pathLst>
              <a:path w="6844476" h="5478555">
                <a:moveTo>
                  <a:pt x="0" y="0"/>
                </a:moveTo>
                <a:lnTo>
                  <a:pt x="6844475" y="0"/>
                </a:lnTo>
                <a:lnTo>
                  <a:pt x="6844475" y="5478555"/>
                </a:lnTo>
                <a:lnTo>
                  <a:pt x="0" y="5478555"/>
                </a:lnTo>
                <a:lnTo>
                  <a:pt x="0" y="0"/>
                </a:lnTo>
                <a:close/>
              </a:path>
            </a:pathLst>
          </a:custGeom>
          <a:blipFill>
            <a:blip r:embed="rId9"/>
            <a:stretch>
              <a:fillRect r="-85499"/>
            </a:stretch>
          </a:blipFill>
        </p:spPr>
        <p:txBody>
          <a:bodyPr/>
          <a:lstStyle/>
          <a:p>
            <a:endParaRPr lang="es-PE"/>
          </a:p>
        </p:txBody>
      </p:sp>
      <p:sp>
        <p:nvSpPr>
          <p:cNvPr id="15" name="TextBox 15"/>
          <p:cNvSpPr txBox="1"/>
          <p:nvPr/>
        </p:nvSpPr>
        <p:spPr>
          <a:xfrm>
            <a:off x="2429605" y="487363"/>
            <a:ext cx="4938573" cy="1073150"/>
          </a:xfrm>
          <a:prstGeom prst="rect">
            <a:avLst/>
          </a:prstGeom>
        </p:spPr>
        <p:txBody>
          <a:bodyPr lIns="0" tIns="0" rIns="0" bIns="0" rtlCol="0" anchor="t">
            <a:spAutoFit/>
          </a:bodyPr>
          <a:lstStyle/>
          <a:p>
            <a:pPr algn="l">
              <a:lnSpc>
                <a:spcPts val="6999"/>
              </a:lnSpc>
            </a:pPr>
            <a:r>
              <a:rPr lang="en-US" sz="6999">
                <a:solidFill>
                  <a:srgbClr val="000000"/>
                </a:solidFill>
                <a:latin typeface="Retropix"/>
                <a:ea typeface="Retropix"/>
                <a:cs typeface="Retropix"/>
                <a:sym typeface="Retropix"/>
              </a:rPr>
              <a:t>Resultados</a:t>
            </a:r>
          </a:p>
        </p:txBody>
      </p:sp>
      <p:sp>
        <p:nvSpPr>
          <p:cNvPr id="16" name="TextBox 16"/>
          <p:cNvSpPr txBox="1"/>
          <p:nvPr/>
        </p:nvSpPr>
        <p:spPr>
          <a:xfrm>
            <a:off x="7671579" y="8578750"/>
            <a:ext cx="9214707" cy="580390"/>
          </a:xfrm>
          <a:prstGeom prst="rect">
            <a:avLst/>
          </a:prstGeom>
        </p:spPr>
        <p:txBody>
          <a:bodyPr lIns="0" tIns="0" rIns="0" bIns="0" rtlCol="0" anchor="t">
            <a:spAutoFit/>
          </a:bodyPr>
          <a:lstStyle/>
          <a:p>
            <a:pPr algn="ctr">
              <a:lnSpc>
                <a:spcPts val="4759"/>
              </a:lnSpc>
            </a:pPr>
            <a:r>
              <a:rPr lang="en-US" sz="3399">
                <a:solidFill>
                  <a:srgbClr val="000000"/>
                </a:solidFill>
                <a:latin typeface="Open Sans"/>
                <a:ea typeface="Open Sans"/>
                <a:cs typeface="Open Sans"/>
                <a:sym typeface="Open Sans"/>
              </a:rPr>
              <a:t>calibreesan.xyz</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0" y="9052698"/>
            <a:ext cx="18288000" cy="1234302"/>
            <a:chOff x="0" y="0"/>
            <a:chExt cx="4816593" cy="325084"/>
          </a:xfrm>
        </p:grpSpPr>
        <p:sp>
          <p:nvSpPr>
            <p:cNvPr id="3" name="Freeform 3">
              <a:extLst>
                <a:ext uri="{C183D7F6-B498-43B3-948B-1728B52AA6E4}">
                  <adec:decorative xmlns:adec="http://schemas.microsoft.com/office/drawing/2017/decorative" val="1"/>
                </a:ext>
              </a:extLst>
            </p:cNvPr>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txBody>
            <a:bodyPr/>
            <a:lstStyle/>
            <a:p>
              <a:endParaRPr lang="es-PE"/>
            </a:p>
          </p:txBody>
        </p:sp>
        <p:sp>
          <p:nvSpPr>
            <p:cNvPr id="4" name="TextBox 4"/>
            <p:cNvSpPr txBox="1"/>
            <p:nvPr/>
          </p:nvSpPr>
          <p:spPr>
            <a:xfrm>
              <a:off x="0" y="-38100"/>
              <a:ext cx="4816593" cy="363184"/>
            </a:xfrm>
            <a:prstGeom prst="rect">
              <a:avLst/>
            </a:prstGeom>
          </p:spPr>
          <p:txBody>
            <a:bodyPr lIns="254000" tIns="254000" rIns="254000" bIns="254000" rtlCol="0" anchor="ctr"/>
            <a:lstStyle/>
            <a:p>
              <a:pPr algn="l">
                <a:lnSpc>
                  <a:spcPts val="2100"/>
                </a:lnSpc>
              </a:pPr>
              <a:endParaRPr/>
            </a:p>
          </p:txBody>
        </p:sp>
      </p:grpSp>
      <p:grpSp>
        <p:nvGrpSpPr>
          <p:cNvPr id="5" name="Group 5"/>
          <p:cNvGrpSpPr/>
          <p:nvPr/>
        </p:nvGrpSpPr>
        <p:grpSpPr>
          <a:xfrm>
            <a:off x="15109868" y="9297158"/>
            <a:ext cx="2801811" cy="712035"/>
            <a:chOff x="0" y="0"/>
            <a:chExt cx="737925" cy="187532"/>
          </a:xfrm>
        </p:grpSpPr>
        <p:sp>
          <p:nvSpPr>
            <p:cNvPr id="6" name="Freeform 6">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7" name="TextBox 7"/>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2" action="ppaction://hlinksldjump"/>
                </a:rPr>
                <a:t>Back to Agenda Page</a:t>
              </a:r>
            </a:p>
          </p:txBody>
        </p:sp>
      </p:grpSp>
      <p:sp>
        <p:nvSpPr>
          <p:cNvPr id="8" name="Freeform 8" descr="pixel old tech close button"/>
          <p:cNvSpPr/>
          <p:nvPr/>
        </p:nvSpPr>
        <p:spPr>
          <a:xfrm>
            <a:off x="1224458" y="790302"/>
            <a:ext cx="476797" cy="476797"/>
          </a:xfrm>
          <a:custGeom>
            <a:avLst/>
            <a:gdLst/>
            <a:ahLst/>
            <a:cxnLst/>
            <a:rect l="l" t="t" r="r" b="b"/>
            <a:pathLst>
              <a:path w="476797" h="476797">
                <a:moveTo>
                  <a:pt x="0" y="0"/>
                </a:moveTo>
                <a:lnTo>
                  <a:pt x="476797" y="0"/>
                </a:lnTo>
                <a:lnTo>
                  <a:pt x="476797" y="476796"/>
                </a:lnTo>
                <a:lnTo>
                  <a:pt x="0" y="4767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9" name="Freeform 9" descr="cursor"/>
          <p:cNvSpPr/>
          <p:nvPr/>
        </p:nvSpPr>
        <p:spPr>
          <a:xfrm rot="-693538">
            <a:off x="14450654" y="6215517"/>
            <a:ext cx="468578" cy="797888"/>
          </a:xfrm>
          <a:custGeom>
            <a:avLst/>
            <a:gdLst/>
            <a:ahLst/>
            <a:cxnLst/>
            <a:rect l="l" t="t" r="r" b="b"/>
            <a:pathLst>
              <a:path w="468578" h="797888">
                <a:moveTo>
                  <a:pt x="0" y="0"/>
                </a:moveTo>
                <a:lnTo>
                  <a:pt x="468578" y="0"/>
                </a:lnTo>
                <a:lnTo>
                  <a:pt x="468578" y="797888"/>
                </a:lnTo>
                <a:lnTo>
                  <a:pt x="0" y="7978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0" name="Freeform 10" descr="pixel old tech magnifier tool"/>
          <p:cNvSpPr/>
          <p:nvPr/>
        </p:nvSpPr>
        <p:spPr>
          <a:xfrm>
            <a:off x="1777466" y="790302"/>
            <a:ext cx="476797" cy="476797"/>
          </a:xfrm>
          <a:custGeom>
            <a:avLst/>
            <a:gdLst/>
            <a:ahLst/>
            <a:cxnLst/>
            <a:rect l="l" t="t" r="r" b="b"/>
            <a:pathLst>
              <a:path w="476797" h="476797">
                <a:moveTo>
                  <a:pt x="0" y="0"/>
                </a:moveTo>
                <a:lnTo>
                  <a:pt x="476797" y="0"/>
                </a:lnTo>
                <a:lnTo>
                  <a:pt x="476797" y="476796"/>
                </a:lnTo>
                <a:lnTo>
                  <a:pt x="0" y="4767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pSp>
        <p:nvGrpSpPr>
          <p:cNvPr id="11" name="Group 11"/>
          <p:cNvGrpSpPr/>
          <p:nvPr/>
        </p:nvGrpSpPr>
        <p:grpSpPr>
          <a:xfrm>
            <a:off x="237414" y="9267586"/>
            <a:ext cx="804526" cy="804526"/>
            <a:chOff x="0" y="0"/>
            <a:chExt cx="1072702" cy="1072702"/>
          </a:xfrm>
        </p:grpSpPr>
        <p:sp>
          <p:nvSpPr>
            <p:cNvPr id="12" name="Freeform 12"/>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3" name="Freeform 13"/>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grpSp>
      <p:sp>
        <p:nvSpPr>
          <p:cNvPr id="14" name="Freeform 14" descr="a pixelated image of a printer"/>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sp>
        <p:nvSpPr>
          <p:cNvPr id="15" name="Freeform 15" descr="a pixelated notepad"/>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sp>
        <p:nvSpPr>
          <p:cNvPr id="16" name="Freeform 16" descr="an image of the earth in a pixel art style"/>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sp>
        <p:nvSpPr>
          <p:cNvPr id="17" name="Freeform 17" descr="a pixelated image of a dice"/>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s-PE"/>
          </a:p>
        </p:txBody>
      </p:sp>
      <p:sp>
        <p:nvSpPr>
          <p:cNvPr id="18" name="Freeform 18" descr="pixelated newspaper"/>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s-PE"/>
          </a:p>
        </p:txBody>
      </p:sp>
      <p:sp>
        <p:nvSpPr>
          <p:cNvPr id="19" name="Freeform 19" descr="pixel old tech warning sign"/>
          <p:cNvSpPr/>
          <p:nvPr/>
        </p:nvSpPr>
        <p:spPr>
          <a:xfrm>
            <a:off x="13936416" y="9323585"/>
            <a:ext cx="748527" cy="748527"/>
          </a:xfrm>
          <a:custGeom>
            <a:avLst/>
            <a:gdLst/>
            <a:ahLst/>
            <a:cxnLst/>
            <a:rect l="l" t="t" r="r" b="b"/>
            <a:pathLst>
              <a:path w="748527" h="748527">
                <a:moveTo>
                  <a:pt x="0" y="0"/>
                </a:moveTo>
                <a:lnTo>
                  <a:pt x="748527" y="0"/>
                </a:lnTo>
                <a:lnTo>
                  <a:pt x="748527" y="748527"/>
                </a:lnTo>
                <a:lnTo>
                  <a:pt x="0" y="74852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PE"/>
          </a:p>
        </p:txBody>
      </p:sp>
      <p:sp>
        <p:nvSpPr>
          <p:cNvPr id="20" name="Freeform 20" descr="pixelated trash can"/>
          <p:cNvSpPr/>
          <p:nvPr/>
        </p:nvSpPr>
        <p:spPr>
          <a:xfrm>
            <a:off x="11489127" y="9187358"/>
            <a:ext cx="689409" cy="931634"/>
          </a:xfrm>
          <a:custGeom>
            <a:avLst/>
            <a:gdLst/>
            <a:ahLst/>
            <a:cxnLst/>
            <a:rect l="l" t="t" r="r" b="b"/>
            <a:pathLst>
              <a:path w="689409" h="931634">
                <a:moveTo>
                  <a:pt x="0" y="0"/>
                </a:moveTo>
                <a:lnTo>
                  <a:pt x="689409" y="0"/>
                </a:lnTo>
                <a:lnTo>
                  <a:pt x="689409" y="931635"/>
                </a:lnTo>
                <a:lnTo>
                  <a:pt x="0" y="931635"/>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s-PE"/>
          </a:p>
        </p:txBody>
      </p:sp>
      <p:sp>
        <p:nvSpPr>
          <p:cNvPr id="21" name="Freeform 21" descr="pixelated image of a landscape"/>
          <p:cNvSpPr/>
          <p:nvPr/>
        </p:nvSpPr>
        <p:spPr>
          <a:xfrm>
            <a:off x="12818382" y="9052698"/>
            <a:ext cx="689409" cy="794916"/>
          </a:xfrm>
          <a:custGeom>
            <a:avLst/>
            <a:gdLst/>
            <a:ahLst/>
            <a:cxnLst/>
            <a:rect l="l" t="t" r="r" b="b"/>
            <a:pathLst>
              <a:path w="689409" h="794916">
                <a:moveTo>
                  <a:pt x="0" y="0"/>
                </a:moveTo>
                <a:lnTo>
                  <a:pt x="689409" y="0"/>
                </a:lnTo>
                <a:lnTo>
                  <a:pt x="689409" y="794917"/>
                </a:lnTo>
                <a:lnTo>
                  <a:pt x="0" y="794917"/>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s-PE"/>
          </a:p>
        </p:txBody>
      </p:sp>
      <p:grpSp>
        <p:nvGrpSpPr>
          <p:cNvPr id="22" name="Group 22"/>
          <p:cNvGrpSpPr/>
          <p:nvPr/>
        </p:nvGrpSpPr>
        <p:grpSpPr>
          <a:xfrm>
            <a:off x="1826614" y="426479"/>
            <a:ext cx="7341226" cy="2480696"/>
            <a:chOff x="0" y="0"/>
            <a:chExt cx="9788302" cy="3307594"/>
          </a:xfrm>
        </p:grpSpPr>
        <p:sp>
          <p:nvSpPr>
            <p:cNvPr id="23" name="TextBox 23"/>
            <p:cNvSpPr txBox="1"/>
            <p:nvPr/>
          </p:nvSpPr>
          <p:spPr>
            <a:xfrm>
              <a:off x="1273068" y="-9525"/>
              <a:ext cx="8515234" cy="1427692"/>
            </a:xfrm>
            <a:prstGeom prst="rect">
              <a:avLst/>
            </a:prstGeom>
          </p:spPr>
          <p:txBody>
            <a:bodyPr lIns="0" tIns="0" rIns="0" bIns="0" rtlCol="0" anchor="t">
              <a:spAutoFit/>
            </a:bodyPr>
            <a:lstStyle/>
            <a:p>
              <a:pPr marL="0" lvl="0" indent="0" algn="l">
                <a:lnSpc>
                  <a:spcPts val="6999"/>
                </a:lnSpc>
                <a:spcBef>
                  <a:spcPct val="0"/>
                </a:spcBef>
              </a:pPr>
              <a:r>
                <a:rPr lang="en-US" sz="6999">
                  <a:solidFill>
                    <a:srgbClr val="FFFFFF"/>
                  </a:solidFill>
                  <a:latin typeface="Retropix"/>
                  <a:ea typeface="Retropix"/>
                  <a:cs typeface="Retropix"/>
                  <a:sym typeface="Retropix"/>
                </a:rPr>
                <a:t>Anexos</a:t>
              </a:r>
            </a:p>
          </p:txBody>
        </p:sp>
        <p:sp>
          <p:nvSpPr>
            <p:cNvPr id="24" name="TextBox 24"/>
            <p:cNvSpPr txBox="1"/>
            <p:nvPr/>
          </p:nvSpPr>
          <p:spPr>
            <a:xfrm>
              <a:off x="0" y="2848278"/>
              <a:ext cx="8515234" cy="459316"/>
            </a:xfrm>
            <a:prstGeom prst="rect">
              <a:avLst/>
            </a:prstGeom>
          </p:spPr>
          <p:txBody>
            <a:bodyPr lIns="0" tIns="0" rIns="0" bIns="0" rtlCol="0" anchor="t">
              <a:spAutoFit/>
            </a:bodyPr>
            <a:lstStyle/>
            <a:p>
              <a:pPr marL="0" lvl="1" indent="0" algn="l">
                <a:lnSpc>
                  <a:spcPts val="2800"/>
                </a:lnSpc>
                <a:spcBef>
                  <a:spcPct val="0"/>
                </a:spcBef>
              </a:pPr>
              <a:endParaRPr/>
            </a:p>
          </p:txBody>
        </p:sp>
      </p:grpSp>
      <p:sp>
        <p:nvSpPr>
          <p:cNvPr id="25" name="TextBox 25"/>
          <p:cNvSpPr txBox="1"/>
          <p:nvPr/>
        </p:nvSpPr>
        <p:spPr>
          <a:xfrm>
            <a:off x="1028700" y="2773824"/>
            <a:ext cx="16072500" cy="2447290"/>
          </a:xfrm>
          <a:prstGeom prst="rect">
            <a:avLst/>
          </a:prstGeom>
        </p:spPr>
        <p:txBody>
          <a:bodyPr lIns="0" tIns="0" rIns="0" bIns="0" rtlCol="0" anchor="t">
            <a:spAutoFit/>
          </a:bodyPr>
          <a:lstStyle/>
          <a:p>
            <a:pPr algn="ctr">
              <a:lnSpc>
                <a:spcPts val="4759"/>
              </a:lnSpc>
            </a:pPr>
            <a:r>
              <a:rPr lang="en-US" sz="3399">
                <a:solidFill>
                  <a:srgbClr val="FFFFFF"/>
                </a:solidFill>
                <a:latin typeface="Retropix"/>
                <a:ea typeface="Retropix"/>
                <a:cs typeface="Retropix"/>
                <a:sym typeface="Retropix"/>
              </a:rPr>
              <a:t>Video demo: https://drive.google.com/file/d/1ayskWalWyM9VvKa7YIwmAdNYPyWWP5KR/view</a:t>
            </a:r>
          </a:p>
          <a:p>
            <a:pPr algn="ctr">
              <a:lnSpc>
                <a:spcPts val="4759"/>
              </a:lnSpc>
            </a:pPr>
            <a:r>
              <a:rPr lang="en-US" sz="3399">
                <a:solidFill>
                  <a:srgbClr val="FFFFFF"/>
                </a:solidFill>
                <a:latin typeface="Retropix"/>
                <a:ea typeface="Retropix"/>
                <a:cs typeface="Retropix"/>
                <a:sym typeface="Retropix"/>
              </a:rPr>
              <a:t>Repositorio del proyecto: </a:t>
            </a:r>
          </a:p>
          <a:p>
            <a:pPr algn="ctr">
              <a:lnSpc>
                <a:spcPts val="4759"/>
              </a:lnSpc>
            </a:pPr>
            <a:r>
              <a:rPr lang="en-US" sz="3399">
                <a:solidFill>
                  <a:srgbClr val="FFFFFF"/>
                </a:solidFill>
                <a:latin typeface="Retropix"/>
                <a:ea typeface="Retropix"/>
                <a:cs typeface="Retropix"/>
                <a:sym typeface="Retropix"/>
              </a:rPr>
              <a:t>https://github.com/IDk-jg/Proyecto-Podman-Calibre-Web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0" y="9052698"/>
            <a:ext cx="18288000" cy="1234302"/>
            <a:chOff x="0" y="0"/>
            <a:chExt cx="4816593" cy="325084"/>
          </a:xfrm>
        </p:grpSpPr>
        <p:sp>
          <p:nvSpPr>
            <p:cNvPr id="3" name="Freeform 3">
              <a:extLst>
                <a:ext uri="{C183D7F6-B498-43B3-948B-1728B52AA6E4}">
                  <adec:decorative xmlns:adec="http://schemas.microsoft.com/office/drawing/2017/decorative" val="1"/>
                </a:ext>
              </a:extLst>
            </p:cNvPr>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txBody>
            <a:bodyPr/>
            <a:lstStyle/>
            <a:p>
              <a:endParaRPr lang="es-PE"/>
            </a:p>
          </p:txBody>
        </p:sp>
        <p:sp>
          <p:nvSpPr>
            <p:cNvPr id="4" name="TextBox 4"/>
            <p:cNvSpPr txBox="1"/>
            <p:nvPr/>
          </p:nvSpPr>
          <p:spPr>
            <a:xfrm>
              <a:off x="0" y="-38100"/>
              <a:ext cx="4816593" cy="363184"/>
            </a:xfrm>
            <a:prstGeom prst="rect">
              <a:avLst/>
            </a:prstGeom>
          </p:spPr>
          <p:txBody>
            <a:bodyPr lIns="254000" tIns="254000" rIns="254000" bIns="254000" rtlCol="0" anchor="ctr"/>
            <a:lstStyle/>
            <a:p>
              <a:pPr algn="l">
                <a:lnSpc>
                  <a:spcPts val="2100"/>
                </a:lnSpc>
              </a:pPr>
              <a:endParaRPr/>
            </a:p>
          </p:txBody>
        </p:sp>
      </p:grpSp>
      <p:grpSp>
        <p:nvGrpSpPr>
          <p:cNvPr id="5" name="Group 5"/>
          <p:cNvGrpSpPr/>
          <p:nvPr/>
        </p:nvGrpSpPr>
        <p:grpSpPr>
          <a:xfrm>
            <a:off x="15109868" y="9297158"/>
            <a:ext cx="2801811" cy="712035"/>
            <a:chOff x="0" y="0"/>
            <a:chExt cx="737925" cy="187532"/>
          </a:xfrm>
        </p:grpSpPr>
        <p:sp>
          <p:nvSpPr>
            <p:cNvPr id="6" name="Freeform 6">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7" name="TextBox 7"/>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2" action="ppaction://hlinksldjump"/>
                </a:rPr>
                <a:t>Back to Agenda Page</a:t>
              </a:r>
            </a:p>
          </p:txBody>
        </p:sp>
      </p:grpSp>
      <p:sp>
        <p:nvSpPr>
          <p:cNvPr id="8" name="Freeform 8" descr="pixel old tech close button"/>
          <p:cNvSpPr/>
          <p:nvPr/>
        </p:nvSpPr>
        <p:spPr>
          <a:xfrm>
            <a:off x="1224458" y="790302"/>
            <a:ext cx="476797" cy="476797"/>
          </a:xfrm>
          <a:custGeom>
            <a:avLst/>
            <a:gdLst/>
            <a:ahLst/>
            <a:cxnLst/>
            <a:rect l="l" t="t" r="r" b="b"/>
            <a:pathLst>
              <a:path w="476797" h="476797">
                <a:moveTo>
                  <a:pt x="0" y="0"/>
                </a:moveTo>
                <a:lnTo>
                  <a:pt x="476797" y="0"/>
                </a:lnTo>
                <a:lnTo>
                  <a:pt x="476797" y="476796"/>
                </a:lnTo>
                <a:lnTo>
                  <a:pt x="0" y="4767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9" name="Freeform 9" descr="cursor"/>
          <p:cNvSpPr/>
          <p:nvPr/>
        </p:nvSpPr>
        <p:spPr>
          <a:xfrm rot="-693538">
            <a:off x="14450654" y="6215517"/>
            <a:ext cx="468578" cy="797888"/>
          </a:xfrm>
          <a:custGeom>
            <a:avLst/>
            <a:gdLst/>
            <a:ahLst/>
            <a:cxnLst/>
            <a:rect l="l" t="t" r="r" b="b"/>
            <a:pathLst>
              <a:path w="468578" h="797888">
                <a:moveTo>
                  <a:pt x="0" y="0"/>
                </a:moveTo>
                <a:lnTo>
                  <a:pt x="468578" y="0"/>
                </a:lnTo>
                <a:lnTo>
                  <a:pt x="468578" y="797888"/>
                </a:lnTo>
                <a:lnTo>
                  <a:pt x="0" y="7978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0" name="Freeform 10" descr="pixel old tech magnifier tool"/>
          <p:cNvSpPr/>
          <p:nvPr/>
        </p:nvSpPr>
        <p:spPr>
          <a:xfrm>
            <a:off x="1777466" y="790302"/>
            <a:ext cx="476797" cy="476797"/>
          </a:xfrm>
          <a:custGeom>
            <a:avLst/>
            <a:gdLst/>
            <a:ahLst/>
            <a:cxnLst/>
            <a:rect l="l" t="t" r="r" b="b"/>
            <a:pathLst>
              <a:path w="476797" h="476797">
                <a:moveTo>
                  <a:pt x="0" y="0"/>
                </a:moveTo>
                <a:lnTo>
                  <a:pt x="476797" y="0"/>
                </a:lnTo>
                <a:lnTo>
                  <a:pt x="476797" y="476796"/>
                </a:lnTo>
                <a:lnTo>
                  <a:pt x="0" y="4767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pSp>
        <p:nvGrpSpPr>
          <p:cNvPr id="11" name="Group 11"/>
          <p:cNvGrpSpPr/>
          <p:nvPr/>
        </p:nvGrpSpPr>
        <p:grpSpPr>
          <a:xfrm>
            <a:off x="237414" y="9267586"/>
            <a:ext cx="804526" cy="804526"/>
            <a:chOff x="0" y="0"/>
            <a:chExt cx="1072702" cy="1072702"/>
          </a:xfrm>
        </p:grpSpPr>
        <p:sp>
          <p:nvSpPr>
            <p:cNvPr id="12" name="Freeform 12"/>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3" name="Freeform 13"/>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grpSp>
      <p:sp>
        <p:nvSpPr>
          <p:cNvPr id="14" name="Freeform 14" descr="a pixelated image of a printer"/>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sp>
        <p:nvSpPr>
          <p:cNvPr id="15" name="Freeform 15" descr="a pixelated notepad"/>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sp>
        <p:nvSpPr>
          <p:cNvPr id="16" name="Freeform 16" descr="an image of the earth in a pixel art style"/>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sp>
        <p:nvSpPr>
          <p:cNvPr id="17" name="Freeform 17" descr="a pixelated image of a dice"/>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s-PE"/>
          </a:p>
        </p:txBody>
      </p:sp>
      <p:sp>
        <p:nvSpPr>
          <p:cNvPr id="18" name="Freeform 18" descr="pixelated newspaper"/>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s-PE"/>
          </a:p>
        </p:txBody>
      </p:sp>
      <p:sp>
        <p:nvSpPr>
          <p:cNvPr id="19" name="Freeform 19" descr="pixel old tech warning sign"/>
          <p:cNvSpPr/>
          <p:nvPr/>
        </p:nvSpPr>
        <p:spPr>
          <a:xfrm>
            <a:off x="13936416" y="9323585"/>
            <a:ext cx="748527" cy="748527"/>
          </a:xfrm>
          <a:custGeom>
            <a:avLst/>
            <a:gdLst/>
            <a:ahLst/>
            <a:cxnLst/>
            <a:rect l="l" t="t" r="r" b="b"/>
            <a:pathLst>
              <a:path w="748527" h="748527">
                <a:moveTo>
                  <a:pt x="0" y="0"/>
                </a:moveTo>
                <a:lnTo>
                  <a:pt x="748527" y="0"/>
                </a:lnTo>
                <a:lnTo>
                  <a:pt x="748527" y="748527"/>
                </a:lnTo>
                <a:lnTo>
                  <a:pt x="0" y="74852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PE"/>
          </a:p>
        </p:txBody>
      </p:sp>
      <p:sp>
        <p:nvSpPr>
          <p:cNvPr id="20" name="Freeform 20" descr="pixelated trash can"/>
          <p:cNvSpPr/>
          <p:nvPr/>
        </p:nvSpPr>
        <p:spPr>
          <a:xfrm>
            <a:off x="11489127" y="9187358"/>
            <a:ext cx="689409" cy="931634"/>
          </a:xfrm>
          <a:custGeom>
            <a:avLst/>
            <a:gdLst/>
            <a:ahLst/>
            <a:cxnLst/>
            <a:rect l="l" t="t" r="r" b="b"/>
            <a:pathLst>
              <a:path w="689409" h="931634">
                <a:moveTo>
                  <a:pt x="0" y="0"/>
                </a:moveTo>
                <a:lnTo>
                  <a:pt x="689409" y="0"/>
                </a:lnTo>
                <a:lnTo>
                  <a:pt x="689409" y="931635"/>
                </a:lnTo>
                <a:lnTo>
                  <a:pt x="0" y="931635"/>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s-PE"/>
          </a:p>
        </p:txBody>
      </p:sp>
      <p:sp>
        <p:nvSpPr>
          <p:cNvPr id="21" name="Freeform 21" descr="pixelated image of a landscape"/>
          <p:cNvSpPr/>
          <p:nvPr/>
        </p:nvSpPr>
        <p:spPr>
          <a:xfrm>
            <a:off x="12818382" y="9052698"/>
            <a:ext cx="689409" cy="794916"/>
          </a:xfrm>
          <a:custGeom>
            <a:avLst/>
            <a:gdLst/>
            <a:ahLst/>
            <a:cxnLst/>
            <a:rect l="l" t="t" r="r" b="b"/>
            <a:pathLst>
              <a:path w="689409" h="794916">
                <a:moveTo>
                  <a:pt x="0" y="0"/>
                </a:moveTo>
                <a:lnTo>
                  <a:pt x="689409" y="0"/>
                </a:lnTo>
                <a:lnTo>
                  <a:pt x="689409" y="794917"/>
                </a:lnTo>
                <a:lnTo>
                  <a:pt x="0" y="794917"/>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s-PE"/>
          </a:p>
        </p:txBody>
      </p:sp>
      <p:grpSp>
        <p:nvGrpSpPr>
          <p:cNvPr id="22" name="Group 22"/>
          <p:cNvGrpSpPr/>
          <p:nvPr/>
        </p:nvGrpSpPr>
        <p:grpSpPr>
          <a:xfrm>
            <a:off x="1826614" y="426479"/>
            <a:ext cx="7341226" cy="2480696"/>
            <a:chOff x="0" y="0"/>
            <a:chExt cx="9788302" cy="3307594"/>
          </a:xfrm>
        </p:grpSpPr>
        <p:sp>
          <p:nvSpPr>
            <p:cNvPr id="23" name="TextBox 23"/>
            <p:cNvSpPr txBox="1"/>
            <p:nvPr/>
          </p:nvSpPr>
          <p:spPr>
            <a:xfrm>
              <a:off x="1273068" y="-9525"/>
              <a:ext cx="8515234" cy="1427692"/>
            </a:xfrm>
            <a:prstGeom prst="rect">
              <a:avLst/>
            </a:prstGeom>
          </p:spPr>
          <p:txBody>
            <a:bodyPr lIns="0" tIns="0" rIns="0" bIns="0" rtlCol="0" anchor="t">
              <a:spAutoFit/>
            </a:bodyPr>
            <a:lstStyle/>
            <a:p>
              <a:pPr marL="0" lvl="0" indent="0" algn="l">
                <a:lnSpc>
                  <a:spcPts val="6999"/>
                </a:lnSpc>
                <a:spcBef>
                  <a:spcPct val="0"/>
                </a:spcBef>
              </a:pPr>
              <a:r>
                <a:rPr lang="en-US" sz="6999">
                  <a:solidFill>
                    <a:srgbClr val="FFFFFF"/>
                  </a:solidFill>
                  <a:latin typeface="Retropix"/>
                  <a:ea typeface="Retropix"/>
                  <a:cs typeface="Retropix"/>
                  <a:sym typeface="Retropix"/>
                </a:rPr>
                <a:t>Anexos</a:t>
              </a:r>
            </a:p>
          </p:txBody>
        </p:sp>
        <p:sp>
          <p:nvSpPr>
            <p:cNvPr id="24" name="TextBox 24"/>
            <p:cNvSpPr txBox="1"/>
            <p:nvPr/>
          </p:nvSpPr>
          <p:spPr>
            <a:xfrm>
              <a:off x="0" y="2848278"/>
              <a:ext cx="8515234" cy="459316"/>
            </a:xfrm>
            <a:prstGeom prst="rect">
              <a:avLst/>
            </a:prstGeom>
          </p:spPr>
          <p:txBody>
            <a:bodyPr lIns="0" tIns="0" rIns="0" bIns="0" rtlCol="0" anchor="t">
              <a:spAutoFit/>
            </a:bodyPr>
            <a:lstStyle/>
            <a:p>
              <a:pPr marL="0" lvl="1" indent="0" algn="l">
                <a:lnSpc>
                  <a:spcPts val="2800"/>
                </a:lnSpc>
                <a:spcBef>
                  <a:spcPct val="0"/>
                </a:spcBef>
              </a:pPr>
              <a:endParaRPr/>
            </a:p>
          </p:txBody>
        </p:sp>
      </p:grpSp>
      <p:sp>
        <p:nvSpPr>
          <p:cNvPr id="25" name="TextBox 25"/>
          <p:cNvSpPr txBox="1"/>
          <p:nvPr/>
        </p:nvSpPr>
        <p:spPr>
          <a:xfrm>
            <a:off x="639677" y="1533476"/>
            <a:ext cx="16272135" cy="7021830"/>
          </a:xfrm>
          <a:prstGeom prst="rect">
            <a:avLst/>
          </a:prstGeom>
        </p:spPr>
        <p:txBody>
          <a:bodyPr lIns="0" tIns="0" rIns="0" bIns="0" rtlCol="0" anchor="t">
            <a:spAutoFit/>
          </a:bodyPr>
          <a:lstStyle/>
          <a:p>
            <a:pPr marL="712470" lvl="1" indent="-356235" algn="l">
              <a:lnSpc>
                <a:spcPts val="4620"/>
              </a:lnSpc>
              <a:buFont typeface="Arial"/>
              <a:buChar char="•"/>
            </a:pPr>
            <a:r>
              <a:rPr lang="en-US" sz="3300">
                <a:solidFill>
                  <a:srgbClr val="FFFFFF"/>
                </a:solidFill>
                <a:latin typeface="Retropix"/>
                <a:ea typeface="Retropix"/>
                <a:cs typeface="Retropix"/>
                <a:sym typeface="Retropix"/>
              </a:rPr>
              <a:t>Referencias bibliográficas  linuxserver/calibre-web. (s.f.). Documentación o?cial de la imagen Docker/Podman.</a:t>
            </a:r>
          </a:p>
          <a:p>
            <a:pPr algn="l">
              <a:lnSpc>
                <a:spcPts val="4620"/>
              </a:lnSpc>
            </a:pPr>
            <a:r>
              <a:rPr lang="en-US" sz="3300">
                <a:solidFill>
                  <a:srgbClr val="FFFFFF"/>
                </a:solidFill>
                <a:latin typeface="Retropix"/>
                <a:ea typeface="Retropix"/>
                <a:cs typeface="Retropix"/>
                <a:sym typeface="Retropix"/>
              </a:rPr>
              <a:t> https: //hub.docker.com/r/linuxserver/calibre-web  Podman.io. (s.f.).   </a:t>
            </a:r>
          </a:p>
          <a:p>
            <a:pPr marL="712470" lvl="1" indent="-356235" algn="l">
              <a:lnSpc>
                <a:spcPts val="4620"/>
              </a:lnSpc>
              <a:buFont typeface="Arial"/>
              <a:buChar char="•"/>
            </a:pPr>
            <a:r>
              <a:rPr lang="en-US" sz="3300">
                <a:solidFill>
                  <a:srgbClr val="FFFFFF"/>
                </a:solidFill>
                <a:latin typeface="Retropix"/>
                <a:ea typeface="Retropix"/>
                <a:cs typeface="Retropix"/>
                <a:sym typeface="Retropix"/>
              </a:rPr>
              <a:t>   Documentación oficial de Podman ? Rootless containers y namespaces. https://docs.podman.io/en/stable/markdown/podman.1.html 9 </a:t>
            </a:r>
          </a:p>
          <a:p>
            <a:pPr marL="712470" lvl="1" indent="-356235" algn="l">
              <a:lnSpc>
                <a:spcPts val="4620"/>
              </a:lnSpc>
              <a:buFont typeface="Arial"/>
              <a:buChar char="•"/>
            </a:pPr>
            <a:r>
              <a:rPr lang="en-US" sz="3300">
                <a:solidFill>
                  <a:srgbClr val="FFFFFF"/>
                </a:solidFill>
                <a:latin typeface="Retropix"/>
                <a:ea typeface="Retropix"/>
                <a:cs typeface="Retropix"/>
                <a:sym typeface="Retropix"/>
              </a:rPr>
              <a:t>Sistemas  Operativos I ? Proyecto Final Servidor de eBooks (Calibre-Web)  Documentación del kernel de Linux. (s.f.). Sistema de archivos /proc. https://www.kernel. org/doc/Documentation/filesystems/proc.rst  man7.org. (s.f.). Páginas de manual: https://man7.org/linux/man-pages/man1/df.1. html (df), https://www.man7.org/linux/man-pages/man1/stat.1.html (stat), https:// man7.org/linux/man-pages/man8/filefrag.8.html (?lefrag), https://man7.org/linux/ man-pages/man1/unshare.1.html (unshare).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0" y="9052698"/>
            <a:ext cx="18288000" cy="1234302"/>
            <a:chOff x="0" y="0"/>
            <a:chExt cx="4816593" cy="325084"/>
          </a:xfrm>
        </p:grpSpPr>
        <p:sp>
          <p:nvSpPr>
            <p:cNvPr id="3" name="Freeform 3">
              <a:extLst>
                <a:ext uri="{C183D7F6-B498-43B3-948B-1728B52AA6E4}">
                  <adec:decorative xmlns:adec="http://schemas.microsoft.com/office/drawing/2017/decorative" val="1"/>
                </a:ext>
              </a:extLst>
            </p:cNvPr>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txBody>
            <a:bodyPr/>
            <a:lstStyle/>
            <a:p>
              <a:endParaRPr lang="es-PE"/>
            </a:p>
          </p:txBody>
        </p:sp>
        <p:sp>
          <p:nvSpPr>
            <p:cNvPr id="4" name="TextBox 4"/>
            <p:cNvSpPr txBox="1"/>
            <p:nvPr/>
          </p:nvSpPr>
          <p:spPr>
            <a:xfrm>
              <a:off x="0" y="-38100"/>
              <a:ext cx="4816593" cy="363184"/>
            </a:xfrm>
            <a:prstGeom prst="rect">
              <a:avLst/>
            </a:prstGeom>
          </p:spPr>
          <p:txBody>
            <a:bodyPr lIns="254000" tIns="254000" rIns="254000" bIns="254000" rtlCol="0" anchor="ctr"/>
            <a:lstStyle/>
            <a:p>
              <a:pPr algn="l">
                <a:lnSpc>
                  <a:spcPts val="2100"/>
                </a:lnSpc>
              </a:pPr>
              <a:endParaRPr/>
            </a:p>
          </p:txBody>
        </p:sp>
      </p:grpSp>
      <p:grpSp>
        <p:nvGrpSpPr>
          <p:cNvPr id="5" name="Group 5"/>
          <p:cNvGrpSpPr/>
          <p:nvPr/>
        </p:nvGrpSpPr>
        <p:grpSpPr>
          <a:xfrm>
            <a:off x="15109868" y="9297158"/>
            <a:ext cx="2801811" cy="712035"/>
            <a:chOff x="0" y="0"/>
            <a:chExt cx="737925" cy="187532"/>
          </a:xfrm>
        </p:grpSpPr>
        <p:sp>
          <p:nvSpPr>
            <p:cNvPr id="6" name="Freeform 6">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7" name="TextBox 7"/>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2" action="ppaction://hlinksldjump"/>
                </a:rPr>
                <a:t>Back to Agenda Page</a:t>
              </a:r>
            </a:p>
          </p:txBody>
        </p:sp>
      </p:grpSp>
      <p:sp>
        <p:nvSpPr>
          <p:cNvPr id="8" name="Freeform 8" descr="pixel old tech close button"/>
          <p:cNvSpPr/>
          <p:nvPr/>
        </p:nvSpPr>
        <p:spPr>
          <a:xfrm>
            <a:off x="1224458" y="790302"/>
            <a:ext cx="476797" cy="476797"/>
          </a:xfrm>
          <a:custGeom>
            <a:avLst/>
            <a:gdLst/>
            <a:ahLst/>
            <a:cxnLst/>
            <a:rect l="l" t="t" r="r" b="b"/>
            <a:pathLst>
              <a:path w="476797" h="476797">
                <a:moveTo>
                  <a:pt x="0" y="0"/>
                </a:moveTo>
                <a:lnTo>
                  <a:pt x="476797" y="0"/>
                </a:lnTo>
                <a:lnTo>
                  <a:pt x="476797" y="476796"/>
                </a:lnTo>
                <a:lnTo>
                  <a:pt x="0" y="4767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9" name="Freeform 9" descr="cursor"/>
          <p:cNvSpPr/>
          <p:nvPr/>
        </p:nvSpPr>
        <p:spPr>
          <a:xfrm rot="-693538">
            <a:off x="14450654" y="6215517"/>
            <a:ext cx="468578" cy="797888"/>
          </a:xfrm>
          <a:custGeom>
            <a:avLst/>
            <a:gdLst/>
            <a:ahLst/>
            <a:cxnLst/>
            <a:rect l="l" t="t" r="r" b="b"/>
            <a:pathLst>
              <a:path w="468578" h="797888">
                <a:moveTo>
                  <a:pt x="0" y="0"/>
                </a:moveTo>
                <a:lnTo>
                  <a:pt x="468578" y="0"/>
                </a:lnTo>
                <a:lnTo>
                  <a:pt x="468578" y="797888"/>
                </a:lnTo>
                <a:lnTo>
                  <a:pt x="0" y="7978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0" name="Freeform 10" descr="pixel old tech magnifier tool"/>
          <p:cNvSpPr/>
          <p:nvPr/>
        </p:nvSpPr>
        <p:spPr>
          <a:xfrm>
            <a:off x="1777466" y="790302"/>
            <a:ext cx="476797" cy="476797"/>
          </a:xfrm>
          <a:custGeom>
            <a:avLst/>
            <a:gdLst/>
            <a:ahLst/>
            <a:cxnLst/>
            <a:rect l="l" t="t" r="r" b="b"/>
            <a:pathLst>
              <a:path w="476797" h="476797">
                <a:moveTo>
                  <a:pt x="0" y="0"/>
                </a:moveTo>
                <a:lnTo>
                  <a:pt x="476797" y="0"/>
                </a:lnTo>
                <a:lnTo>
                  <a:pt x="476797" y="476796"/>
                </a:lnTo>
                <a:lnTo>
                  <a:pt x="0" y="4767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pSp>
        <p:nvGrpSpPr>
          <p:cNvPr id="11" name="Group 11"/>
          <p:cNvGrpSpPr/>
          <p:nvPr/>
        </p:nvGrpSpPr>
        <p:grpSpPr>
          <a:xfrm>
            <a:off x="237414" y="9267586"/>
            <a:ext cx="804526" cy="804526"/>
            <a:chOff x="0" y="0"/>
            <a:chExt cx="1072702" cy="1072702"/>
          </a:xfrm>
        </p:grpSpPr>
        <p:sp>
          <p:nvSpPr>
            <p:cNvPr id="12" name="Freeform 12"/>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3" name="Freeform 13"/>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grpSp>
      <p:sp>
        <p:nvSpPr>
          <p:cNvPr id="14" name="Freeform 14" descr="a pixelated image of a printer"/>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sp>
        <p:nvSpPr>
          <p:cNvPr id="15" name="Freeform 15" descr="a pixelated notepad"/>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sp>
        <p:nvSpPr>
          <p:cNvPr id="16" name="Freeform 16" descr="an image of the earth in a pixel art style"/>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sp>
        <p:nvSpPr>
          <p:cNvPr id="17" name="Freeform 17" descr="a pixelated image of a dice"/>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s-PE"/>
          </a:p>
        </p:txBody>
      </p:sp>
      <p:sp>
        <p:nvSpPr>
          <p:cNvPr id="18" name="Freeform 18" descr="pixelated newspaper"/>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s-PE"/>
          </a:p>
        </p:txBody>
      </p:sp>
      <p:sp>
        <p:nvSpPr>
          <p:cNvPr id="19" name="Freeform 19" descr="pixel old tech warning sign"/>
          <p:cNvSpPr/>
          <p:nvPr/>
        </p:nvSpPr>
        <p:spPr>
          <a:xfrm>
            <a:off x="13936416" y="9323585"/>
            <a:ext cx="748527" cy="748527"/>
          </a:xfrm>
          <a:custGeom>
            <a:avLst/>
            <a:gdLst/>
            <a:ahLst/>
            <a:cxnLst/>
            <a:rect l="l" t="t" r="r" b="b"/>
            <a:pathLst>
              <a:path w="748527" h="748527">
                <a:moveTo>
                  <a:pt x="0" y="0"/>
                </a:moveTo>
                <a:lnTo>
                  <a:pt x="748527" y="0"/>
                </a:lnTo>
                <a:lnTo>
                  <a:pt x="748527" y="748527"/>
                </a:lnTo>
                <a:lnTo>
                  <a:pt x="0" y="74852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PE"/>
          </a:p>
        </p:txBody>
      </p:sp>
      <p:sp>
        <p:nvSpPr>
          <p:cNvPr id="20" name="Freeform 20" descr="pixelated trash can"/>
          <p:cNvSpPr/>
          <p:nvPr/>
        </p:nvSpPr>
        <p:spPr>
          <a:xfrm>
            <a:off x="11489127" y="9187358"/>
            <a:ext cx="689409" cy="931634"/>
          </a:xfrm>
          <a:custGeom>
            <a:avLst/>
            <a:gdLst/>
            <a:ahLst/>
            <a:cxnLst/>
            <a:rect l="l" t="t" r="r" b="b"/>
            <a:pathLst>
              <a:path w="689409" h="931634">
                <a:moveTo>
                  <a:pt x="0" y="0"/>
                </a:moveTo>
                <a:lnTo>
                  <a:pt x="689409" y="0"/>
                </a:lnTo>
                <a:lnTo>
                  <a:pt x="689409" y="931635"/>
                </a:lnTo>
                <a:lnTo>
                  <a:pt x="0" y="931635"/>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s-PE"/>
          </a:p>
        </p:txBody>
      </p:sp>
      <p:sp>
        <p:nvSpPr>
          <p:cNvPr id="21" name="Freeform 21" descr="pixelated image of a landscape"/>
          <p:cNvSpPr/>
          <p:nvPr/>
        </p:nvSpPr>
        <p:spPr>
          <a:xfrm>
            <a:off x="12818382" y="9052698"/>
            <a:ext cx="689409" cy="794916"/>
          </a:xfrm>
          <a:custGeom>
            <a:avLst/>
            <a:gdLst/>
            <a:ahLst/>
            <a:cxnLst/>
            <a:rect l="l" t="t" r="r" b="b"/>
            <a:pathLst>
              <a:path w="689409" h="794916">
                <a:moveTo>
                  <a:pt x="0" y="0"/>
                </a:moveTo>
                <a:lnTo>
                  <a:pt x="689409" y="0"/>
                </a:lnTo>
                <a:lnTo>
                  <a:pt x="689409" y="794917"/>
                </a:lnTo>
                <a:lnTo>
                  <a:pt x="0" y="794917"/>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s-PE"/>
          </a:p>
        </p:txBody>
      </p:sp>
      <p:sp>
        <p:nvSpPr>
          <p:cNvPr id="22" name="Freeform 22"/>
          <p:cNvSpPr/>
          <p:nvPr/>
        </p:nvSpPr>
        <p:spPr>
          <a:xfrm>
            <a:off x="197017" y="3621637"/>
            <a:ext cx="8398773" cy="4716599"/>
          </a:xfrm>
          <a:custGeom>
            <a:avLst/>
            <a:gdLst/>
            <a:ahLst/>
            <a:cxnLst/>
            <a:rect l="l" t="t" r="r" b="b"/>
            <a:pathLst>
              <a:path w="8398773" h="4716599">
                <a:moveTo>
                  <a:pt x="0" y="0"/>
                </a:moveTo>
                <a:lnTo>
                  <a:pt x="8398774" y="0"/>
                </a:lnTo>
                <a:lnTo>
                  <a:pt x="8398774" y="4716599"/>
                </a:lnTo>
                <a:lnTo>
                  <a:pt x="0" y="4716599"/>
                </a:lnTo>
                <a:lnTo>
                  <a:pt x="0" y="0"/>
                </a:lnTo>
                <a:close/>
              </a:path>
            </a:pathLst>
          </a:custGeom>
          <a:blipFill>
            <a:blip r:embed="rId16"/>
            <a:stretch>
              <a:fillRect/>
            </a:stretch>
          </a:blipFill>
        </p:spPr>
        <p:txBody>
          <a:bodyPr/>
          <a:lstStyle/>
          <a:p>
            <a:endParaRPr lang="es-PE"/>
          </a:p>
        </p:txBody>
      </p:sp>
      <p:sp>
        <p:nvSpPr>
          <p:cNvPr id="23" name="Freeform 23"/>
          <p:cNvSpPr/>
          <p:nvPr/>
        </p:nvSpPr>
        <p:spPr>
          <a:xfrm>
            <a:off x="9144000" y="439644"/>
            <a:ext cx="8815452" cy="4935061"/>
          </a:xfrm>
          <a:custGeom>
            <a:avLst/>
            <a:gdLst/>
            <a:ahLst/>
            <a:cxnLst/>
            <a:rect l="l" t="t" r="r" b="b"/>
            <a:pathLst>
              <a:path w="8815452" h="4935061">
                <a:moveTo>
                  <a:pt x="0" y="0"/>
                </a:moveTo>
                <a:lnTo>
                  <a:pt x="8815452" y="0"/>
                </a:lnTo>
                <a:lnTo>
                  <a:pt x="8815452" y="4935061"/>
                </a:lnTo>
                <a:lnTo>
                  <a:pt x="0" y="4935061"/>
                </a:lnTo>
                <a:lnTo>
                  <a:pt x="0" y="0"/>
                </a:lnTo>
                <a:close/>
              </a:path>
            </a:pathLst>
          </a:custGeom>
          <a:blipFill>
            <a:blip r:embed="rId17"/>
            <a:stretch>
              <a:fillRect/>
            </a:stretch>
          </a:blipFill>
        </p:spPr>
        <p:txBody>
          <a:bodyPr/>
          <a:lstStyle/>
          <a:p>
            <a:endParaRPr lang="es-PE"/>
          </a:p>
        </p:txBody>
      </p:sp>
      <p:grpSp>
        <p:nvGrpSpPr>
          <p:cNvPr id="24" name="Group 24"/>
          <p:cNvGrpSpPr/>
          <p:nvPr/>
        </p:nvGrpSpPr>
        <p:grpSpPr>
          <a:xfrm>
            <a:off x="1826614" y="426479"/>
            <a:ext cx="7341226" cy="2480696"/>
            <a:chOff x="0" y="0"/>
            <a:chExt cx="9788302" cy="3307594"/>
          </a:xfrm>
        </p:grpSpPr>
        <p:sp>
          <p:nvSpPr>
            <p:cNvPr id="25" name="TextBox 25"/>
            <p:cNvSpPr txBox="1"/>
            <p:nvPr/>
          </p:nvSpPr>
          <p:spPr>
            <a:xfrm>
              <a:off x="1273068" y="-9525"/>
              <a:ext cx="8515234" cy="1427692"/>
            </a:xfrm>
            <a:prstGeom prst="rect">
              <a:avLst/>
            </a:prstGeom>
          </p:spPr>
          <p:txBody>
            <a:bodyPr lIns="0" tIns="0" rIns="0" bIns="0" rtlCol="0" anchor="t">
              <a:spAutoFit/>
            </a:bodyPr>
            <a:lstStyle/>
            <a:p>
              <a:pPr marL="0" lvl="0" indent="0" algn="l">
                <a:lnSpc>
                  <a:spcPts val="6999"/>
                </a:lnSpc>
                <a:spcBef>
                  <a:spcPct val="0"/>
                </a:spcBef>
              </a:pPr>
              <a:r>
                <a:rPr lang="en-US" sz="6999">
                  <a:solidFill>
                    <a:srgbClr val="FFFFFF"/>
                  </a:solidFill>
                  <a:latin typeface="Retropix"/>
                  <a:ea typeface="Retropix"/>
                  <a:cs typeface="Retropix"/>
                  <a:sym typeface="Retropix"/>
                </a:rPr>
                <a:t>Anexos</a:t>
              </a:r>
            </a:p>
          </p:txBody>
        </p:sp>
        <p:sp>
          <p:nvSpPr>
            <p:cNvPr id="26" name="TextBox 26"/>
            <p:cNvSpPr txBox="1"/>
            <p:nvPr/>
          </p:nvSpPr>
          <p:spPr>
            <a:xfrm>
              <a:off x="0" y="2848278"/>
              <a:ext cx="8515234" cy="459316"/>
            </a:xfrm>
            <a:prstGeom prst="rect">
              <a:avLst/>
            </a:prstGeom>
          </p:spPr>
          <p:txBody>
            <a:bodyPr lIns="0" tIns="0" rIns="0" bIns="0" rtlCol="0" anchor="t">
              <a:spAutoFit/>
            </a:bodyPr>
            <a:lstStyle/>
            <a:p>
              <a:pPr marL="0" lvl="1" indent="0" algn="l">
                <a:lnSpc>
                  <a:spcPts val="2800"/>
                </a:lnSpc>
                <a:spcBef>
                  <a:spcPct val="0"/>
                </a:spcBef>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7A7B"/>
        </a:solidFill>
        <a:effectLst/>
      </p:bgPr>
    </p:bg>
    <p:spTree>
      <p:nvGrpSpPr>
        <p:cNvPr id="1" name=""/>
        <p:cNvGrpSpPr/>
        <p:nvPr/>
      </p:nvGrpSpPr>
      <p:grpSpPr>
        <a:xfrm>
          <a:off x="0" y="0"/>
          <a:ext cx="0" cy="0"/>
          <a:chOff x="0" y="0"/>
          <a:chExt cx="0" cy="0"/>
        </a:xfrm>
      </p:grpSpPr>
      <p:grpSp>
        <p:nvGrpSpPr>
          <p:cNvPr id="2" name="Group 2"/>
          <p:cNvGrpSpPr/>
          <p:nvPr/>
        </p:nvGrpSpPr>
        <p:grpSpPr>
          <a:xfrm>
            <a:off x="0" y="9052698"/>
            <a:ext cx="18288000" cy="1234302"/>
            <a:chOff x="0" y="0"/>
            <a:chExt cx="4816593" cy="325084"/>
          </a:xfrm>
        </p:grpSpPr>
        <p:sp>
          <p:nvSpPr>
            <p:cNvPr id="3" name="Freeform 3">
              <a:extLst>
                <a:ext uri="{C183D7F6-B498-43B3-948B-1728B52AA6E4}">
                  <adec:decorative xmlns:adec="http://schemas.microsoft.com/office/drawing/2017/decorative" val="1"/>
                </a:ext>
              </a:extLst>
            </p:cNvPr>
            <p:cNvSpPr/>
            <p:nvPr/>
          </p:nvSpPr>
          <p:spPr>
            <a:xfrm>
              <a:off x="0" y="0"/>
              <a:ext cx="4816592" cy="325084"/>
            </a:xfrm>
            <a:custGeom>
              <a:avLst/>
              <a:gdLst/>
              <a:ahLst/>
              <a:cxnLst/>
              <a:rect l="l" t="t" r="r" b="b"/>
              <a:pathLst>
                <a:path w="4816592" h="325084">
                  <a:moveTo>
                    <a:pt x="0" y="0"/>
                  </a:moveTo>
                  <a:lnTo>
                    <a:pt x="4816592" y="0"/>
                  </a:lnTo>
                  <a:lnTo>
                    <a:pt x="4816592" y="325084"/>
                  </a:lnTo>
                  <a:lnTo>
                    <a:pt x="0" y="325084"/>
                  </a:lnTo>
                  <a:close/>
                </a:path>
              </a:pathLst>
            </a:custGeom>
            <a:solidFill>
              <a:srgbClr val="CCCCCC"/>
            </a:solidFill>
            <a:ln w="95250" cap="sq">
              <a:solidFill>
                <a:srgbClr val="CCCCCC"/>
              </a:solidFill>
              <a:prstDash val="solid"/>
              <a:miter/>
            </a:ln>
          </p:spPr>
          <p:txBody>
            <a:bodyPr/>
            <a:lstStyle/>
            <a:p>
              <a:endParaRPr lang="es-PE"/>
            </a:p>
          </p:txBody>
        </p:sp>
        <p:sp>
          <p:nvSpPr>
            <p:cNvPr id="4" name="TextBox 4"/>
            <p:cNvSpPr txBox="1"/>
            <p:nvPr/>
          </p:nvSpPr>
          <p:spPr>
            <a:xfrm>
              <a:off x="0" y="-38100"/>
              <a:ext cx="4816593" cy="363184"/>
            </a:xfrm>
            <a:prstGeom prst="rect">
              <a:avLst/>
            </a:prstGeom>
          </p:spPr>
          <p:txBody>
            <a:bodyPr lIns="254000" tIns="254000" rIns="254000" bIns="254000" rtlCol="0" anchor="ctr"/>
            <a:lstStyle/>
            <a:p>
              <a:pPr algn="l">
                <a:lnSpc>
                  <a:spcPts val="2100"/>
                </a:lnSpc>
              </a:pPr>
              <a:endParaRPr/>
            </a:p>
          </p:txBody>
        </p:sp>
      </p:grpSp>
      <p:grpSp>
        <p:nvGrpSpPr>
          <p:cNvPr id="5" name="Group 5"/>
          <p:cNvGrpSpPr/>
          <p:nvPr/>
        </p:nvGrpSpPr>
        <p:grpSpPr>
          <a:xfrm>
            <a:off x="15109868" y="9297158"/>
            <a:ext cx="2801811" cy="712035"/>
            <a:chOff x="0" y="0"/>
            <a:chExt cx="737925" cy="187532"/>
          </a:xfrm>
        </p:grpSpPr>
        <p:sp>
          <p:nvSpPr>
            <p:cNvPr id="6" name="Freeform 6">
              <a:extLst>
                <a:ext uri="{C183D7F6-B498-43B3-948B-1728B52AA6E4}">
                  <adec:decorative xmlns:adec="http://schemas.microsoft.com/office/drawing/2017/decorative" val="1"/>
                </a:ext>
              </a:extLst>
            </p:cNvPr>
            <p:cNvSpPr/>
            <p:nvPr/>
          </p:nvSpPr>
          <p:spPr>
            <a:xfrm>
              <a:off x="0" y="0"/>
              <a:ext cx="737925" cy="187532"/>
            </a:xfrm>
            <a:custGeom>
              <a:avLst/>
              <a:gdLst/>
              <a:ahLst/>
              <a:cxnLst/>
              <a:rect l="l" t="t" r="r" b="b"/>
              <a:pathLst>
                <a:path w="737925" h="187532">
                  <a:moveTo>
                    <a:pt x="0" y="0"/>
                  </a:moveTo>
                  <a:lnTo>
                    <a:pt x="737925" y="0"/>
                  </a:lnTo>
                  <a:lnTo>
                    <a:pt x="737925" y="187532"/>
                  </a:lnTo>
                  <a:lnTo>
                    <a:pt x="0" y="187532"/>
                  </a:lnTo>
                  <a:close/>
                </a:path>
              </a:pathLst>
            </a:custGeom>
            <a:solidFill>
              <a:srgbClr val="CCCCCC"/>
            </a:solidFill>
            <a:ln w="28575" cap="sq">
              <a:solidFill>
                <a:srgbClr val="000000"/>
              </a:solidFill>
              <a:prstDash val="solid"/>
              <a:miter/>
            </a:ln>
          </p:spPr>
          <p:txBody>
            <a:bodyPr/>
            <a:lstStyle/>
            <a:p>
              <a:endParaRPr lang="es-PE"/>
            </a:p>
          </p:txBody>
        </p:sp>
        <p:sp>
          <p:nvSpPr>
            <p:cNvPr id="7" name="TextBox 7"/>
            <p:cNvSpPr txBox="1"/>
            <p:nvPr/>
          </p:nvSpPr>
          <p:spPr>
            <a:xfrm>
              <a:off x="0" y="-66675"/>
              <a:ext cx="737925" cy="254207"/>
            </a:xfrm>
            <a:prstGeom prst="rect">
              <a:avLst/>
            </a:prstGeom>
          </p:spPr>
          <p:txBody>
            <a:bodyPr lIns="50800" tIns="50800" rIns="50800" bIns="50800" rtlCol="0" anchor="ctr"/>
            <a:lstStyle/>
            <a:p>
              <a:pPr marL="0" lvl="0" indent="0" algn="ctr">
                <a:lnSpc>
                  <a:spcPts val="2240"/>
                </a:lnSpc>
                <a:spcBef>
                  <a:spcPct val="0"/>
                </a:spcBef>
              </a:pPr>
              <a:r>
                <a:rPr lang="en-US" sz="1600" u="sng">
                  <a:solidFill>
                    <a:srgbClr val="000000"/>
                  </a:solidFill>
                  <a:latin typeface="Retropix"/>
                  <a:ea typeface="Retropix"/>
                  <a:cs typeface="Retropix"/>
                  <a:sym typeface="Retropix"/>
                  <a:hlinkClick r:id="rId2" action="ppaction://hlinksldjump"/>
                </a:rPr>
                <a:t>Back to Agenda Page</a:t>
              </a:r>
            </a:p>
          </p:txBody>
        </p:sp>
      </p:grpSp>
      <p:sp>
        <p:nvSpPr>
          <p:cNvPr id="8" name="Freeform 8" descr="pixel old tech close button"/>
          <p:cNvSpPr/>
          <p:nvPr/>
        </p:nvSpPr>
        <p:spPr>
          <a:xfrm>
            <a:off x="1224458" y="790302"/>
            <a:ext cx="476797" cy="476797"/>
          </a:xfrm>
          <a:custGeom>
            <a:avLst/>
            <a:gdLst/>
            <a:ahLst/>
            <a:cxnLst/>
            <a:rect l="l" t="t" r="r" b="b"/>
            <a:pathLst>
              <a:path w="476797" h="476797">
                <a:moveTo>
                  <a:pt x="0" y="0"/>
                </a:moveTo>
                <a:lnTo>
                  <a:pt x="476797" y="0"/>
                </a:lnTo>
                <a:lnTo>
                  <a:pt x="476797" y="476796"/>
                </a:lnTo>
                <a:lnTo>
                  <a:pt x="0" y="4767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9" name="Freeform 9" descr="cursor"/>
          <p:cNvSpPr/>
          <p:nvPr/>
        </p:nvSpPr>
        <p:spPr>
          <a:xfrm rot="-693538">
            <a:off x="14450654" y="6215517"/>
            <a:ext cx="468578" cy="797888"/>
          </a:xfrm>
          <a:custGeom>
            <a:avLst/>
            <a:gdLst/>
            <a:ahLst/>
            <a:cxnLst/>
            <a:rect l="l" t="t" r="r" b="b"/>
            <a:pathLst>
              <a:path w="468578" h="797888">
                <a:moveTo>
                  <a:pt x="0" y="0"/>
                </a:moveTo>
                <a:lnTo>
                  <a:pt x="468578" y="0"/>
                </a:lnTo>
                <a:lnTo>
                  <a:pt x="468578" y="797888"/>
                </a:lnTo>
                <a:lnTo>
                  <a:pt x="0" y="7978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10" name="Freeform 10" descr="pixel old tech magnifier tool"/>
          <p:cNvSpPr/>
          <p:nvPr/>
        </p:nvSpPr>
        <p:spPr>
          <a:xfrm>
            <a:off x="1777466" y="790302"/>
            <a:ext cx="476797" cy="476797"/>
          </a:xfrm>
          <a:custGeom>
            <a:avLst/>
            <a:gdLst/>
            <a:ahLst/>
            <a:cxnLst/>
            <a:rect l="l" t="t" r="r" b="b"/>
            <a:pathLst>
              <a:path w="476797" h="476797">
                <a:moveTo>
                  <a:pt x="0" y="0"/>
                </a:moveTo>
                <a:lnTo>
                  <a:pt x="476797" y="0"/>
                </a:lnTo>
                <a:lnTo>
                  <a:pt x="476797" y="476796"/>
                </a:lnTo>
                <a:lnTo>
                  <a:pt x="0" y="4767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pSp>
        <p:nvGrpSpPr>
          <p:cNvPr id="11" name="Group 11"/>
          <p:cNvGrpSpPr/>
          <p:nvPr/>
        </p:nvGrpSpPr>
        <p:grpSpPr>
          <a:xfrm>
            <a:off x="237414" y="9267586"/>
            <a:ext cx="804526" cy="804526"/>
            <a:chOff x="0" y="0"/>
            <a:chExt cx="1072702" cy="1072702"/>
          </a:xfrm>
        </p:grpSpPr>
        <p:sp>
          <p:nvSpPr>
            <p:cNvPr id="12" name="Freeform 12"/>
            <p:cNvSpPr/>
            <p:nvPr/>
          </p:nvSpPr>
          <p:spPr>
            <a:xfrm>
              <a:off x="0" y="0"/>
              <a:ext cx="1072702" cy="1072702"/>
            </a:xfrm>
            <a:custGeom>
              <a:avLst/>
              <a:gdLst/>
              <a:ahLst/>
              <a:cxnLst/>
              <a:rect l="l" t="t" r="r" b="b"/>
              <a:pathLst>
                <a:path w="1072702" h="1072702">
                  <a:moveTo>
                    <a:pt x="0" y="0"/>
                  </a:moveTo>
                  <a:lnTo>
                    <a:pt x="1072702" y="0"/>
                  </a:lnTo>
                  <a:lnTo>
                    <a:pt x="1072702" y="1072702"/>
                  </a:lnTo>
                  <a:lnTo>
                    <a:pt x="0" y="10727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13" name="Freeform 13"/>
            <p:cNvSpPr/>
            <p:nvPr/>
          </p:nvSpPr>
          <p:spPr>
            <a:xfrm>
              <a:off x="158445" y="150016"/>
              <a:ext cx="755811" cy="772669"/>
            </a:xfrm>
            <a:custGeom>
              <a:avLst/>
              <a:gdLst/>
              <a:ahLst/>
              <a:cxnLst/>
              <a:rect l="l" t="t" r="r" b="b"/>
              <a:pathLst>
                <a:path w="755811" h="772669">
                  <a:moveTo>
                    <a:pt x="0" y="0"/>
                  </a:moveTo>
                  <a:lnTo>
                    <a:pt x="755811" y="0"/>
                  </a:lnTo>
                  <a:lnTo>
                    <a:pt x="755811" y="772670"/>
                  </a:lnTo>
                  <a:lnTo>
                    <a:pt x="0" y="77267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grpSp>
      <p:sp>
        <p:nvSpPr>
          <p:cNvPr id="14" name="Freeform 14" descr="a pixelated image of a printer"/>
          <p:cNvSpPr/>
          <p:nvPr/>
        </p:nvSpPr>
        <p:spPr>
          <a:xfrm>
            <a:off x="1423082" y="9291263"/>
            <a:ext cx="807064" cy="757173"/>
          </a:xfrm>
          <a:custGeom>
            <a:avLst/>
            <a:gdLst/>
            <a:ahLst/>
            <a:cxnLst/>
            <a:rect l="l" t="t" r="r" b="b"/>
            <a:pathLst>
              <a:path w="807064" h="757173">
                <a:moveTo>
                  <a:pt x="0" y="0"/>
                </a:moveTo>
                <a:lnTo>
                  <a:pt x="807064" y="0"/>
                </a:lnTo>
                <a:lnTo>
                  <a:pt x="807064" y="757173"/>
                </a:lnTo>
                <a:lnTo>
                  <a:pt x="0" y="75717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sp>
        <p:nvSpPr>
          <p:cNvPr id="15" name="Freeform 15" descr="a pixelated notepad"/>
          <p:cNvSpPr/>
          <p:nvPr/>
        </p:nvSpPr>
        <p:spPr>
          <a:xfrm>
            <a:off x="2395752" y="9327294"/>
            <a:ext cx="662689" cy="685111"/>
          </a:xfrm>
          <a:custGeom>
            <a:avLst/>
            <a:gdLst/>
            <a:ahLst/>
            <a:cxnLst/>
            <a:rect l="l" t="t" r="r" b="b"/>
            <a:pathLst>
              <a:path w="662689" h="685111">
                <a:moveTo>
                  <a:pt x="0" y="0"/>
                </a:moveTo>
                <a:lnTo>
                  <a:pt x="662688" y="0"/>
                </a:lnTo>
                <a:lnTo>
                  <a:pt x="662688" y="685110"/>
                </a:lnTo>
                <a:lnTo>
                  <a:pt x="0" y="68511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sp>
        <p:nvSpPr>
          <p:cNvPr id="16" name="Freeform 16" descr="an image of the earth in a pixel art style"/>
          <p:cNvSpPr/>
          <p:nvPr/>
        </p:nvSpPr>
        <p:spPr>
          <a:xfrm>
            <a:off x="4062279" y="9335724"/>
            <a:ext cx="668249" cy="668249"/>
          </a:xfrm>
          <a:custGeom>
            <a:avLst/>
            <a:gdLst/>
            <a:ahLst/>
            <a:cxnLst/>
            <a:rect l="l" t="t" r="r" b="b"/>
            <a:pathLst>
              <a:path w="668249" h="668249">
                <a:moveTo>
                  <a:pt x="0" y="0"/>
                </a:moveTo>
                <a:lnTo>
                  <a:pt x="668250" y="0"/>
                </a:lnTo>
                <a:lnTo>
                  <a:pt x="668250" y="668250"/>
                </a:lnTo>
                <a:lnTo>
                  <a:pt x="0" y="66825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sp>
        <p:nvSpPr>
          <p:cNvPr id="17" name="Freeform 17" descr="a pixelated image of a dice"/>
          <p:cNvSpPr/>
          <p:nvPr/>
        </p:nvSpPr>
        <p:spPr>
          <a:xfrm>
            <a:off x="3224046" y="9309278"/>
            <a:ext cx="672629" cy="721142"/>
          </a:xfrm>
          <a:custGeom>
            <a:avLst/>
            <a:gdLst/>
            <a:ahLst/>
            <a:cxnLst/>
            <a:rect l="l" t="t" r="r" b="b"/>
            <a:pathLst>
              <a:path w="672629" h="721142">
                <a:moveTo>
                  <a:pt x="0" y="0"/>
                </a:moveTo>
                <a:lnTo>
                  <a:pt x="672628" y="0"/>
                </a:lnTo>
                <a:lnTo>
                  <a:pt x="672628" y="721142"/>
                </a:lnTo>
                <a:lnTo>
                  <a:pt x="0" y="72114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s-PE"/>
          </a:p>
        </p:txBody>
      </p:sp>
      <p:sp>
        <p:nvSpPr>
          <p:cNvPr id="18" name="Freeform 18" descr="pixelated newspaper"/>
          <p:cNvSpPr/>
          <p:nvPr/>
        </p:nvSpPr>
        <p:spPr>
          <a:xfrm>
            <a:off x="4877084" y="9291263"/>
            <a:ext cx="905315" cy="757173"/>
          </a:xfrm>
          <a:custGeom>
            <a:avLst/>
            <a:gdLst/>
            <a:ahLst/>
            <a:cxnLst/>
            <a:rect l="l" t="t" r="r" b="b"/>
            <a:pathLst>
              <a:path w="905315" h="757173">
                <a:moveTo>
                  <a:pt x="0" y="0"/>
                </a:moveTo>
                <a:lnTo>
                  <a:pt x="905315" y="0"/>
                </a:lnTo>
                <a:lnTo>
                  <a:pt x="905315" y="757173"/>
                </a:lnTo>
                <a:lnTo>
                  <a:pt x="0" y="757173"/>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s-PE"/>
          </a:p>
        </p:txBody>
      </p:sp>
      <p:sp>
        <p:nvSpPr>
          <p:cNvPr id="19" name="Freeform 19" descr="pixel old tech warning sign"/>
          <p:cNvSpPr/>
          <p:nvPr/>
        </p:nvSpPr>
        <p:spPr>
          <a:xfrm>
            <a:off x="13936416" y="9323585"/>
            <a:ext cx="748527" cy="748527"/>
          </a:xfrm>
          <a:custGeom>
            <a:avLst/>
            <a:gdLst/>
            <a:ahLst/>
            <a:cxnLst/>
            <a:rect l="l" t="t" r="r" b="b"/>
            <a:pathLst>
              <a:path w="748527" h="748527">
                <a:moveTo>
                  <a:pt x="0" y="0"/>
                </a:moveTo>
                <a:lnTo>
                  <a:pt x="748527" y="0"/>
                </a:lnTo>
                <a:lnTo>
                  <a:pt x="748527" y="748527"/>
                </a:lnTo>
                <a:lnTo>
                  <a:pt x="0" y="74852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PE"/>
          </a:p>
        </p:txBody>
      </p:sp>
      <p:sp>
        <p:nvSpPr>
          <p:cNvPr id="20" name="Freeform 20" descr="pixelated trash can"/>
          <p:cNvSpPr/>
          <p:nvPr/>
        </p:nvSpPr>
        <p:spPr>
          <a:xfrm>
            <a:off x="11489127" y="9187358"/>
            <a:ext cx="689409" cy="931634"/>
          </a:xfrm>
          <a:custGeom>
            <a:avLst/>
            <a:gdLst/>
            <a:ahLst/>
            <a:cxnLst/>
            <a:rect l="l" t="t" r="r" b="b"/>
            <a:pathLst>
              <a:path w="689409" h="931634">
                <a:moveTo>
                  <a:pt x="0" y="0"/>
                </a:moveTo>
                <a:lnTo>
                  <a:pt x="689409" y="0"/>
                </a:lnTo>
                <a:lnTo>
                  <a:pt x="689409" y="931635"/>
                </a:lnTo>
                <a:lnTo>
                  <a:pt x="0" y="931635"/>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s-PE"/>
          </a:p>
        </p:txBody>
      </p:sp>
      <p:sp>
        <p:nvSpPr>
          <p:cNvPr id="21" name="Freeform 21" descr="pixelated image of a landscape"/>
          <p:cNvSpPr/>
          <p:nvPr/>
        </p:nvSpPr>
        <p:spPr>
          <a:xfrm>
            <a:off x="12818382" y="9052698"/>
            <a:ext cx="689409" cy="794916"/>
          </a:xfrm>
          <a:custGeom>
            <a:avLst/>
            <a:gdLst/>
            <a:ahLst/>
            <a:cxnLst/>
            <a:rect l="l" t="t" r="r" b="b"/>
            <a:pathLst>
              <a:path w="689409" h="794916">
                <a:moveTo>
                  <a:pt x="0" y="0"/>
                </a:moveTo>
                <a:lnTo>
                  <a:pt x="689409" y="0"/>
                </a:lnTo>
                <a:lnTo>
                  <a:pt x="689409" y="794917"/>
                </a:lnTo>
                <a:lnTo>
                  <a:pt x="0" y="794917"/>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s-PE"/>
          </a:p>
        </p:txBody>
      </p:sp>
      <p:sp>
        <p:nvSpPr>
          <p:cNvPr id="22" name="Freeform 22"/>
          <p:cNvSpPr/>
          <p:nvPr/>
        </p:nvSpPr>
        <p:spPr>
          <a:xfrm>
            <a:off x="2230146" y="1666826"/>
            <a:ext cx="10588235" cy="5915549"/>
          </a:xfrm>
          <a:custGeom>
            <a:avLst/>
            <a:gdLst/>
            <a:ahLst/>
            <a:cxnLst/>
            <a:rect l="l" t="t" r="r" b="b"/>
            <a:pathLst>
              <a:path w="10588235" h="5915549">
                <a:moveTo>
                  <a:pt x="0" y="0"/>
                </a:moveTo>
                <a:lnTo>
                  <a:pt x="10588236" y="0"/>
                </a:lnTo>
                <a:lnTo>
                  <a:pt x="10588236" y="5915550"/>
                </a:lnTo>
                <a:lnTo>
                  <a:pt x="0" y="5915550"/>
                </a:lnTo>
                <a:lnTo>
                  <a:pt x="0" y="0"/>
                </a:lnTo>
                <a:close/>
              </a:path>
            </a:pathLst>
          </a:custGeom>
          <a:blipFill>
            <a:blip r:embed="rId16"/>
            <a:stretch>
              <a:fillRect/>
            </a:stretch>
          </a:blipFill>
        </p:spPr>
        <p:txBody>
          <a:bodyPr/>
          <a:lstStyle/>
          <a:p>
            <a:endParaRPr lang="es-PE"/>
          </a:p>
        </p:txBody>
      </p:sp>
      <p:grpSp>
        <p:nvGrpSpPr>
          <p:cNvPr id="23" name="Group 23"/>
          <p:cNvGrpSpPr/>
          <p:nvPr/>
        </p:nvGrpSpPr>
        <p:grpSpPr>
          <a:xfrm>
            <a:off x="1826614" y="426479"/>
            <a:ext cx="7341226" cy="2480696"/>
            <a:chOff x="0" y="0"/>
            <a:chExt cx="9788302" cy="3307594"/>
          </a:xfrm>
        </p:grpSpPr>
        <p:sp>
          <p:nvSpPr>
            <p:cNvPr id="24" name="TextBox 24"/>
            <p:cNvSpPr txBox="1"/>
            <p:nvPr/>
          </p:nvSpPr>
          <p:spPr>
            <a:xfrm>
              <a:off x="1273068" y="-9525"/>
              <a:ext cx="8515234" cy="1427692"/>
            </a:xfrm>
            <a:prstGeom prst="rect">
              <a:avLst/>
            </a:prstGeom>
          </p:spPr>
          <p:txBody>
            <a:bodyPr lIns="0" tIns="0" rIns="0" bIns="0" rtlCol="0" anchor="t">
              <a:spAutoFit/>
            </a:bodyPr>
            <a:lstStyle/>
            <a:p>
              <a:pPr marL="0" lvl="0" indent="0" algn="l">
                <a:lnSpc>
                  <a:spcPts val="6999"/>
                </a:lnSpc>
                <a:spcBef>
                  <a:spcPct val="0"/>
                </a:spcBef>
              </a:pPr>
              <a:r>
                <a:rPr lang="en-US" sz="6999">
                  <a:solidFill>
                    <a:srgbClr val="FFFFFF"/>
                  </a:solidFill>
                  <a:latin typeface="Retropix"/>
                  <a:ea typeface="Retropix"/>
                  <a:cs typeface="Retropix"/>
                  <a:sym typeface="Retropix"/>
                </a:rPr>
                <a:t>Anexos</a:t>
              </a:r>
            </a:p>
          </p:txBody>
        </p:sp>
        <p:sp>
          <p:nvSpPr>
            <p:cNvPr id="25" name="TextBox 25"/>
            <p:cNvSpPr txBox="1"/>
            <p:nvPr/>
          </p:nvSpPr>
          <p:spPr>
            <a:xfrm>
              <a:off x="0" y="2848278"/>
              <a:ext cx="8515234" cy="459316"/>
            </a:xfrm>
            <a:prstGeom prst="rect">
              <a:avLst/>
            </a:prstGeom>
          </p:spPr>
          <p:txBody>
            <a:bodyPr lIns="0" tIns="0" rIns="0" bIns="0" rtlCol="0" anchor="t">
              <a:spAutoFit/>
            </a:bodyPr>
            <a:lstStyle/>
            <a:p>
              <a:pPr marL="0" lvl="1" indent="0" algn="l">
                <a:lnSpc>
                  <a:spcPts val="2800"/>
                </a:lnSpc>
                <a:spcBef>
                  <a:spcPct val="0"/>
                </a:spcBef>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ixel Old Tech Blank Page"/>
          <p:cNvSpPr/>
          <p:nvPr/>
        </p:nvSpPr>
        <p:spPr>
          <a:xfrm>
            <a:off x="-1816736" y="-5817236"/>
            <a:ext cx="21921472" cy="21921472"/>
          </a:xfrm>
          <a:custGeom>
            <a:avLst/>
            <a:gdLst/>
            <a:ahLst/>
            <a:cxnLst/>
            <a:rect l="l" t="t" r="r" b="b"/>
            <a:pathLst>
              <a:path w="21921472" h="21921472">
                <a:moveTo>
                  <a:pt x="0" y="0"/>
                </a:moveTo>
                <a:lnTo>
                  <a:pt x="21921472" y="0"/>
                </a:lnTo>
                <a:lnTo>
                  <a:pt x="21921472" y="21921472"/>
                </a:lnTo>
                <a:lnTo>
                  <a:pt x="0" y="21921472"/>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es-PE"/>
          </a:p>
        </p:txBody>
      </p:sp>
      <p:sp>
        <p:nvSpPr>
          <p:cNvPr id="3" name="Freeform 3" descr="pixel old tech window"/>
          <p:cNvSpPr/>
          <p:nvPr/>
        </p:nvSpPr>
        <p:spPr>
          <a:xfrm>
            <a:off x="-2051798" y="6727729"/>
            <a:ext cx="7151220" cy="2327397"/>
          </a:xfrm>
          <a:custGeom>
            <a:avLst/>
            <a:gdLst/>
            <a:ahLst/>
            <a:cxnLst/>
            <a:rect l="l" t="t" r="r" b="b"/>
            <a:pathLst>
              <a:path w="7151220" h="2327397">
                <a:moveTo>
                  <a:pt x="0" y="0"/>
                </a:moveTo>
                <a:lnTo>
                  <a:pt x="7151219" y="0"/>
                </a:lnTo>
                <a:lnTo>
                  <a:pt x="7151219" y="2327397"/>
                </a:lnTo>
                <a:lnTo>
                  <a:pt x="0" y="23273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PE"/>
          </a:p>
        </p:txBody>
      </p:sp>
      <p:sp>
        <p:nvSpPr>
          <p:cNvPr id="4" name="Freeform 4" descr="pixel old tech window"/>
          <p:cNvSpPr/>
          <p:nvPr/>
        </p:nvSpPr>
        <p:spPr>
          <a:xfrm>
            <a:off x="15077168" y="1724416"/>
            <a:ext cx="4364264" cy="8728529"/>
          </a:xfrm>
          <a:custGeom>
            <a:avLst/>
            <a:gdLst/>
            <a:ahLst/>
            <a:cxnLst/>
            <a:rect l="l" t="t" r="r" b="b"/>
            <a:pathLst>
              <a:path w="4364264" h="8728529">
                <a:moveTo>
                  <a:pt x="0" y="0"/>
                </a:moveTo>
                <a:lnTo>
                  <a:pt x="4364264" y="0"/>
                </a:lnTo>
                <a:lnTo>
                  <a:pt x="4364264" y="8728529"/>
                </a:lnTo>
                <a:lnTo>
                  <a:pt x="0" y="87285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5" name="Freeform 5" descr="pixel old tech window"/>
          <p:cNvSpPr/>
          <p:nvPr/>
        </p:nvSpPr>
        <p:spPr>
          <a:xfrm>
            <a:off x="13333126" y="0"/>
            <a:ext cx="3684917" cy="3684917"/>
          </a:xfrm>
          <a:custGeom>
            <a:avLst/>
            <a:gdLst/>
            <a:ahLst/>
            <a:cxnLst/>
            <a:rect l="l" t="t" r="r" b="b"/>
            <a:pathLst>
              <a:path w="3684917" h="3684917">
                <a:moveTo>
                  <a:pt x="0" y="0"/>
                </a:moveTo>
                <a:lnTo>
                  <a:pt x="3684918" y="0"/>
                </a:lnTo>
                <a:lnTo>
                  <a:pt x="3684918" y="3684917"/>
                </a:lnTo>
                <a:lnTo>
                  <a:pt x="0" y="36849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sp>
        <p:nvSpPr>
          <p:cNvPr id="6" name="Freeform 6" descr="pixel old tech window"/>
          <p:cNvSpPr/>
          <p:nvPr/>
        </p:nvSpPr>
        <p:spPr>
          <a:xfrm>
            <a:off x="1523812" y="-5528151"/>
            <a:ext cx="4364264" cy="8728529"/>
          </a:xfrm>
          <a:custGeom>
            <a:avLst/>
            <a:gdLst/>
            <a:ahLst/>
            <a:cxnLst/>
            <a:rect l="l" t="t" r="r" b="b"/>
            <a:pathLst>
              <a:path w="4364264" h="8728529">
                <a:moveTo>
                  <a:pt x="0" y="0"/>
                </a:moveTo>
                <a:lnTo>
                  <a:pt x="4364264" y="0"/>
                </a:lnTo>
                <a:lnTo>
                  <a:pt x="4364264" y="8728529"/>
                </a:lnTo>
                <a:lnTo>
                  <a:pt x="0" y="87285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PE"/>
          </a:p>
        </p:txBody>
      </p:sp>
      <p:sp>
        <p:nvSpPr>
          <p:cNvPr id="7" name="Freeform 7" descr="pixel old tech window"/>
          <p:cNvSpPr/>
          <p:nvPr/>
        </p:nvSpPr>
        <p:spPr>
          <a:xfrm>
            <a:off x="3443210" y="2152891"/>
            <a:ext cx="10495805" cy="5247903"/>
          </a:xfrm>
          <a:custGeom>
            <a:avLst/>
            <a:gdLst/>
            <a:ahLst/>
            <a:cxnLst/>
            <a:rect l="l" t="t" r="r" b="b"/>
            <a:pathLst>
              <a:path w="10495805" h="5247903">
                <a:moveTo>
                  <a:pt x="0" y="0"/>
                </a:moveTo>
                <a:lnTo>
                  <a:pt x="10495805" y="0"/>
                </a:lnTo>
                <a:lnTo>
                  <a:pt x="10495805" y="5247902"/>
                </a:lnTo>
                <a:lnTo>
                  <a:pt x="0" y="52479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8" name="Freeform 8" descr="pixel old tech window"/>
          <p:cNvSpPr/>
          <p:nvPr/>
        </p:nvSpPr>
        <p:spPr>
          <a:xfrm>
            <a:off x="3705944" y="2391347"/>
            <a:ext cx="10495805" cy="5247903"/>
          </a:xfrm>
          <a:custGeom>
            <a:avLst/>
            <a:gdLst/>
            <a:ahLst/>
            <a:cxnLst/>
            <a:rect l="l" t="t" r="r" b="b"/>
            <a:pathLst>
              <a:path w="10495805" h="5247903">
                <a:moveTo>
                  <a:pt x="0" y="0"/>
                </a:moveTo>
                <a:lnTo>
                  <a:pt x="10495805" y="0"/>
                </a:lnTo>
                <a:lnTo>
                  <a:pt x="10495805" y="5247902"/>
                </a:lnTo>
                <a:lnTo>
                  <a:pt x="0" y="52479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PE"/>
          </a:p>
        </p:txBody>
      </p:sp>
      <p:sp>
        <p:nvSpPr>
          <p:cNvPr id="9" name="Freeform 9" descr="pixel old tech window"/>
          <p:cNvSpPr/>
          <p:nvPr/>
        </p:nvSpPr>
        <p:spPr>
          <a:xfrm>
            <a:off x="3958123" y="2643525"/>
            <a:ext cx="10495805" cy="5247903"/>
          </a:xfrm>
          <a:custGeom>
            <a:avLst/>
            <a:gdLst/>
            <a:ahLst/>
            <a:cxnLst/>
            <a:rect l="l" t="t" r="r" b="b"/>
            <a:pathLst>
              <a:path w="10495805" h="5247903">
                <a:moveTo>
                  <a:pt x="0" y="0"/>
                </a:moveTo>
                <a:lnTo>
                  <a:pt x="10495805" y="0"/>
                </a:lnTo>
                <a:lnTo>
                  <a:pt x="10495805" y="5247903"/>
                </a:lnTo>
                <a:lnTo>
                  <a:pt x="0" y="524790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PE"/>
          </a:p>
        </p:txBody>
      </p:sp>
      <p:sp>
        <p:nvSpPr>
          <p:cNvPr id="10" name="Freeform 10" descr="old tech warning sign"/>
          <p:cNvSpPr/>
          <p:nvPr/>
        </p:nvSpPr>
        <p:spPr>
          <a:xfrm>
            <a:off x="4227848" y="2909472"/>
            <a:ext cx="581810" cy="581810"/>
          </a:xfrm>
          <a:custGeom>
            <a:avLst/>
            <a:gdLst/>
            <a:ahLst/>
            <a:cxnLst/>
            <a:rect l="l" t="t" r="r" b="b"/>
            <a:pathLst>
              <a:path w="581810" h="581810">
                <a:moveTo>
                  <a:pt x="0" y="0"/>
                </a:moveTo>
                <a:lnTo>
                  <a:pt x="581810" y="0"/>
                </a:lnTo>
                <a:lnTo>
                  <a:pt x="581810" y="581811"/>
                </a:lnTo>
                <a:lnTo>
                  <a:pt x="0" y="58181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PE"/>
          </a:p>
        </p:txBody>
      </p:sp>
      <p:sp>
        <p:nvSpPr>
          <p:cNvPr id="11" name="Freeform 11" descr="cursor"/>
          <p:cNvSpPr/>
          <p:nvPr/>
        </p:nvSpPr>
        <p:spPr>
          <a:xfrm>
            <a:off x="12848391" y="7478728"/>
            <a:ext cx="484735" cy="825401"/>
          </a:xfrm>
          <a:custGeom>
            <a:avLst/>
            <a:gdLst/>
            <a:ahLst/>
            <a:cxnLst/>
            <a:rect l="l" t="t" r="r" b="b"/>
            <a:pathLst>
              <a:path w="484735" h="825401">
                <a:moveTo>
                  <a:pt x="0" y="0"/>
                </a:moveTo>
                <a:lnTo>
                  <a:pt x="484735" y="0"/>
                </a:lnTo>
                <a:lnTo>
                  <a:pt x="484735" y="825400"/>
                </a:lnTo>
                <a:lnTo>
                  <a:pt x="0" y="82540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PE"/>
          </a:p>
        </p:txBody>
      </p:sp>
      <p:sp>
        <p:nvSpPr>
          <p:cNvPr id="12" name="Freeform 12">
            <a:extLst>
              <a:ext uri="{C183D7F6-B498-43B3-948B-1728B52AA6E4}">
                <adec:decorative xmlns:adec="http://schemas.microsoft.com/office/drawing/2017/decorative" val="1"/>
              </a:ext>
            </a:extLst>
          </p:cNvPr>
          <p:cNvSpPr/>
          <p:nvPr/>
        </p:nvSpPr>
        <p:spPr>
          <a:xfrm>
            <a:off x="13569053" y="2909472"/>
            <a:ext cx="613646" cy="613646"/>
          </a:xfrm>
          <a:custGeom>
            <a:avLst/>
            <a:gdLst/>
            <a:ahLst/>
            <a:cxnLst/>
            <a:rect l="l" t="t" r="r" b="b"/>
            <a:pathLst>
              <a:path w="613646" h="613646">
                <a:moveTo>
                  <a:pt x="0" y="0"/>
                </a:moveTo>
                <a:lnTo>
                  <a:pt x="613646" y="0"/>
                </a:lnTo>
                <a:lnTo>
                  <a:pt x="613646" y="613646"/>
                </a:lnTo>
                <a:lnTo>
                  <a:pt x="0" y="613646"/>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PE"/>
          </a:p>
        </p:txBody>
      </p:sp>
      <p:grpSp>
        <p:nvGrpSpPr>
          <p:cNvPr id="13" name="Group 13"/>
          <p:cNvGrpSpPr/>
          <p:nvPr/>
        </p:nvGrpSpPr>
        <p:grpSpPr>
          <a:xfrm>
            <a:off x="572626" y="1323946"/>
            <a:ext cx="1658982" cy="4147456"/>
            <a:chOff x="0" y="0"/>
            <a:chExt cx="2211976" cy="5529941"/>
          </a:xfrm>
        </p:grpSpPr>
        <p:sp>
          <p:nvSpPr>
            <p:cNvPr id="14" name="Freeform 14"/>
            <p:cNvSpPr/>
            <p:nvPr/>
          </p:nvSpPr>
          <p:spPr>
            <a:xfrm>
              <a:off x="0"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s-PE"/>
            </a:p>
          </p:txBody>
        </p:sp>
        <p:sp>
          <p:nvSpPr>
            <p:cNvPr id="15" name="Freeform 15"/>
            <p:cNvSpPr/>
            <p:nvPr/>
          </p:nvSpPr>
          <p:spPr>
            <a:xfrm>
              <a:off x="1105988" y="0"/>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s-PE"/>
            </a:p>
          </p:txBody>
        </p:sp>
        <p:sp>
          <p:nvSpPr>
            <p:cNvPr id="16" name="Freeform 16"/>
            <p:cNvSpPr/>
            <p:nvPr/>
          </p:nvSpPr>
          <p:spPr>
            <a:xfrm>
              <a:off x="0"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PE"/>
            </a:p>
          </p:txBody>
        </p:sp>
        <p:sp>
          <p:nvSpPr>
            <p:cNvPr id="17" name="Freeform 17"/>
            <p:cNvSpPr/>
            <p:nvPr/>
          </p:nvSpPr>
          <p:spPr>
            <a:xfrm>
              <a:off x="1105988" y="2211976"/>
              <a:ext cx="1105988" cy="1105988"/>
            </a:xfrm>
            <a:custGeom>
              <a:avLst/>
              <a:gdLst/>
              <a:ahLst/>
              <a:cxnLst/>
              <a:rect l="l" t="t" r="r" b="b"/>
              <a:pathLst>
                <a:path w="1105988" h="1105988">
                  <a:moveTo>
                    <a:pt x="0" y="0"/>
                  </a:moveTo>
                  <a:lnTo>
                    <a:pt x="1105988" y="0"/>
                  </a:lnTo>
                  <a:lnTo>
                    <a:pt x="1105988" y="1105989"/>
                  </a:lnTo>
                  <a:lnTo>
                    <a:pt x="0" y="1105989"/>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s-PE"/>
            </a:p>
          </p:txBody>
        </p:sp>
        <p:sp>
          <p:nvSpPr>
            <p:cNvPr id="18" name="Freeform 18"/>
            <p:cNvSpPr/>
            <p:nvPr/>
          </p:nvSpPr>
          <p:spPr>
            <a:xfrm>
              <a:off x="0"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s-PE"/>
            </a:p>
          </p:txBody>
        </p:sp>
        <p:sp>
          <p:nvSpPr>
            <p:cNvPr id="19" name="Freeform 19"/>
            <p:cNvSpPr/>
            <p:nvPr/>
          </p:nvSpPr>
          <p:spPr>
            <a:xfrm>
              <a:off x="1105988" y="1105988"/>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s-PE"/>
            </a:p>
          </p:txBody>
        </p:sp>
        <p:sp>
          <p:nvSpPr>
            <p:cNvPr id="20" name="Freeform 20"/>
            <p:cNvSpPr/>
            <p:nvPr/>
          </p:nvSpPr>
          <p:spPr>
            <a:xfrm>
              <a:off x="0"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s-PE"/>
            </a:p>
          </p:txBody>
        </p:sp>
        <p:sp>
          <p:nvSpPr>
            <p:cNvPr id="21" name="Freeform 21"/>
            <p:cNvSpPr/>
            <p:nvPr/>
          </p:nvSpPr>
          <p:spPr>
            <a:xfrm>
              <a:off x="1105988" y="3317965"/>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a:extLst>
                  <a:ext uri="{96DAC541-7B7A-43D3-8B79-37D633B846F1}">
                    <asvg:svgBlip xmlns:asvg="http://schemas.microsoft.com/office/drawing/2016/SVG/main" r:embed="rId18"/>
                  </a:ext>
                </a:extLst>
              </a:blip>
              <a:stretch>
                <a:fillRect/>
              </a:stretch>
            </a:blipFill>
          </p:spPr>
          <p:txBody>
            <a:bodyPr/>
            <a:lstStyle/>
            <a:p>
              <a:endParaRPr lang="es-PE"/>
            </a:p>
          </p:txBody>
        </p:sp>
        <p:sp>
          <p:nvSpPr>
            <p:cNvPr id="22" name="Freeform 22"/>
            <p:cNvSpPr/>
            <p:nvPr/>
          </p:nvSpPr>
          <p:spPr>
            <a:xfrm>
              <a:off x="0"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a:extLst>
                  <a:ext uri="{96DAC541-7B7A-43D3-8B79-37D633B846F1}">
                    <asvg:svgBlip xmlns:asvg="http://schemas.microsoft.com/office/drawing/2016/SVG/main" r:embed="rId19"/>
                  </a:ext>
                </a:extLst>
              </a:blip>
              <a:stretch>
                <a:fillRect/>
              </a:stretch>
            </a:blipFill>
          </p:spPr>
          <p:txBody>
            <a:bodyPr/>
            <a:lstStyle/>
            <a:p>
              <a:endParaRPr lang="es-PE"/>
            </a:p>
          </p:txBody>
        </p:sp>
        <p:sp>
          <p:nvSpPr>
            <p:cNvPr id="23" name="Freeform 23"/>
            <p:cNvSpPr/>
            <p:nvPr/>
          </p:nvSpPr>
          <p:spPr>
            <a:xfrm>
              <a:off x="1105988" y="4423953"/>
              <a:ext cx="1105988" cy="1105988"/>
            </a:xfrm>
            <a:custGeom>
              <a:avLst/>
              <a:gdLst/>
              <a:ahLst/>
              <a:cxnLst/>
              <a:rect l="l" t="t" r="r" b="b"/>
              <a:pathLst>
                <a:path w="1105988" h="1105988">
                  <a:moveTo>
                    <a:pt x="0" y="0"/>
                  </a:moveTo>
                  <a:lnTo>
                    <a:pt x="1105988" y="0"/>
                  </a:lnTo>
                  <a:lnTo>
                    <a:pt x="1105988" y="1105988"/>
                  </a:lnTo>
                  <a:lnTo>
                    <a:pt x="0" y="1105988"/>
                  </a:lnTo>
                  <a:lnTo>
                    <a:pt x="0" y="0"/>
                  </a:lnTo>
                  <a:close/>
                </a:path>
              </a:pathLst>
            </a:custGeom>
            <a:blipFill>
              <a:blip>
                <a:extLst>
                  <a:ext uri="{96DAC541-7B7A-43D3-8B79-37D633B846F1}">
                    <asvg:svgBlip xmlns:asvg="http://schemas.microsoft.com/office/drawing/2016/SVG/main" r:embed="rId20"/>
                  </a:ext>
                </a:extLst>
              </a:blip>
              <a:stretch>
                <a:fillRect/>
              </a:stretch>
            </a:blipFill>
          </p:spPr>
          <p:txBody>
            <a:bodyPr/>
            <a:lstStyle/>
            <a:p>
              <a:endParaRPr lang="es-PE"/>
            </a:p>
          </p:txBody>
        </p:sp>
        <p:sp>
          <p:nvSpPr>
            <p:cNvPr id="24" name="Freeform 24"/>
            <p:cNvSpPr/>
            <p:nvPr/>
          </p:nvSpPr>
          <p:spPr>
            <a:xfrm>
              <a:off x="1284474" y="4613333"/>
              <a:ext cx="749016" cy="727227"/>
            </a:xfrm>
            <a:custGeom>
              <a:avLst/>
              <a:gdLst/>
              <a:ahLst/>
              <a:cxnLst/>
              <a:rect l="l" t="t" r="r" b="b"/>
              <a:pathLst>
                <a:path w="749016" h="727227">
                  <a:moveTo>
                    <a:pt x="0" y="0"/>
                  </a:moveTo>
                  <a:lnTo>
                    <a:pt x="749016" y="0"/>
                  </a:lnTo>
                  <a:lnTo>
                    <a:pt x="749016" y="727227"/>
                  </a:lnTo>
                  <a:lnTo>
                    <a:pt x="0" y="727227"/>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s-PE"/>
            </a:p>
          </p:txBody>
        </p:sp>
      </p:grpSp>
      <p:sp>
        <p:nvSpPr>
          <p:cNvPr id="25" name="Freeform 25" descr="pixel old tech window"/>
          <p:cNvSpPr/>
          <p:nvPr/>
        </p:nvSpPr>
        <p:spPr>
          <a:xfrm>
            <a:off x="4045617" y="8444541"/>
            <a:ext cx="3684917" cy="3684917"/>
          </a:xfrm>
          <a:custGeom>
            <a:avLst/>
            <a:gdLst/>
            <a:ahLst/>
            <a:cxnLst/>
            <a:rect l="l" t="t" r="r" b="b"/>
            <a:pathLst>
              <a:path w="3684917" h="3684917">
                <a:moveTo>
                  <a:pt x="0" y="0"/>
                </a:moveTo>
                <a:lnTo>
                  <a:pt x="3684918" y="0"/>
                </a:lnTo>
                <a:lnTo>
                  <a:pt x="3684918" y="3684918"/>
                </a:lnTo>
                <a:lnTo>
                  <a:pt x="0" y="36849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PE"/>
          </a:p>
        </p:txBody>
      </p:sp>
      <p:grpSp>
        <p:nvGrpSpPr>
          <p:cNvPr id="26" name="Group 26"/>
          <p:cNvGrpSpPr/>
          <p:nvPr/>
        </p:nvGrpSpPr>
        <p:grpSpPr>
          <a:xfrm>
            <a:off x="4676293" y="4957817"/>
            <a:ext cx="8935414" cy="1675618"/>
            <a:chOff x="0" y="0"/>
            <a:chExt cx="11913886" cy="2234157"/>
          </a:xfrm>
        </p:grpSpPr>
        <p:sp>
          <p:nvSpPr>
            <p:cNvPr id="27" name="TextBox 27"/>
            <p:cNvSpPr txBox="1"/>
            <p:nvPr/>
          </p:nvSpPr>
          <p:spPr>
            <a:xfrm>
              <a:off x="0" y="-9525"/>
              <a:ext cx="11913886" cy="1427692"/>
            </a:xfrm>
            <a:prstGeom prst="rect">
              <a:avLst/>
            </a:prstGeom>
          </p:spPr>
          <p:txBody>
            <a:bodyPr lIns="0" tIns="0" rIns="0" bIns="0" rtlCol="0" anchor="t">
              <a:spAutoFit/>
            </a:bodyPr>
            <a:lstStyle/>
            <a:p>
              <a:pPr marL="0" lvl="0" indent="0" algn="ctr">
                <a:lnSpc>
                  <a:spcPts val="6999"/>
                </a:lnSpc>
              </a:pPr>
              <a:r>
                <a:rPr lang="en-US" sz="6999" u="none">
                  <a:solidFill>
                    <a:srgbClr val="000000"/>
                  </a:solidFill>
                  <a:latin typeface="Retropix"/>
                  <a:ea typeface="Retropix"/>
                  <a:cs typeface="Retropix"/>
                  <a:sym typeface="Retropix"/>
                </a:rPr>
                <a:t>Thank you!</a:t>
              </a:r>
            </a:p>
          </p:txBody>
        </p:sp>
        <p:sp>
          <p:nvSpPr>
            <p:cNvPr id="28" name="TextBox 28"/>
            <p:cNvSpPr txBox="1"/>
            <p:nvPr/>
          </p:nvSpPr>
          <p:spPr>
            <a:xfrm>
              <a:off x="0" y="1548357"/>
              <a:ext cx="11913886" cy="685800"/>
            </a:xfrm>
            <a:prstGeom prst="rect">
              <a:avLst/>
            </a:prstGeom>
          </p:spPr>
          <p:txBody>
            <a:bodyPr lIns="0" tIns="0" rIns="0" bIns="0" rtlCol="0" anchor="t">
              <a:spAutoFit/>
            </a:bodyPr>
            <a:lstStyle/>
            <a:p>
              <a:pPr algn="ctr">
                <a:lnSpc>
                  <a:spcPts val="420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1238</Words>
  <Application>Microsoft Office PowerPoint</Application>
  <PresentationFormat>Personalizado</PresentationFormat>
  <Paragraphs>93</Paragraphs>
  <Slides>14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Arial</vt:lpstr>
      <vt:lpstr>Retropix</vt:lpstr>
      <vt:lpstr>Public Sans</vt:lpstr>
      <vt:lpstr>Open Sans</vt:lpstr>
      <vt:lpstr>Calibri</vt:lpstr>
      <vt:lpstr>Public Sans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Exposicion del Proyecto</dc:title>
  <dc:creator>Usuario</dc:creator>
  <cp:lastModifiedBy>Carola  Jaime Vargas</cp:lastModifiedBy>
  <cp:revision>2</cp:revision>
  <dcterms:created xsi:type="dcterms:W3CDTF">2006-08-16T00:00:00Z</dcterms:created>
  <dcterms:modified xsi:type="dcterms:W3CDTF">2026-06-29T20:57:51Z</dcterms:modified>
  <dc:identifier>DAHNm5VePJQ</dc:identifier>
</cp:coreProperties>
</file>